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walking through Ajaia Docs, a lightweight collaborative document editor I built for this assessment. It's a Google-Docs-inspired rich-text editor focused on a clean editing experience and a working sharing model. Stack is Next.js full-stack, Tiptap for editing, Prisma on Postgres, deployed on Vercel and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guiding principle was depth over breadth. I went deep on the editor and on sharing with real, server-enforced access control. I deliberately cut real-time multiplayer, passwords, comments, and version history — and I'm explicit about those cuts in the architecture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main flow. You sign in with just an email — no password — which keeps the demo frictionless and makes share-by-email natural. The dashboard cleanly separates documents you own from documents shared with you, with Viewer/Editor badges. Opening a doc gives you the editor: bold, italic, underline, headings, lists, and it autosaves as you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all working. Rich-text editing on Tiptap, stored as structured JSON. File import that turns txt, markdown, or docx into an editable document. Sharing by email with Viewer or Editor roles. And persistence with debounced autosave backed by Postgres.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a single Next.js full-stack app. Requests hit route handlers, which delegate the access decision to a pure module called access-dot-ts, then Prisma talks to Postgres on Supabase. The key point: access is re-checked on every request — the read-only UI is convenience, not the security boundary. Three tables: User, Document with content as JSON, and Share with a role and a unique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went deepest. Authorization lives in pure functions with no database dependency, so every endpoint shares one policy and I can unit-test the whole matrix — owner, editor, viewer, stranger, anonymous. I also verified it live against the API: a viewer's edit returns 403, a stranger gets 403, anonymous gets 401, and non-owners never even receive the collaborator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explicit about tradeoffs. On purpose I cut real-time collaboration, passwords, blob storage, and comments. With another two to four hours I'd add real-time presence with Yjs, API-level integration tests, export to Markdown and PDF, and soft-delete. The point is these were deliberate, reasoned cuts — not things I ran out of time on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an AI-native build. AI sped me up most on scaffolding and on enforcing a good structural decision — the pure, tested access layer — and it drove a browser to verify each role. But the judgment calls were mine: I overrode the tooling to pin Prisma 6 and to use the Radix component base. And I verified everything — tests, a clean build, live 403/401 checks — including a real bug the verification caught where opening a document fired a spurious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is a focused, working slice — built, tested, deployed, and honest about what I cut and why. The repo and a live demo are linked, with three seeded accounts so you can test the sharing flow immediately. Thanks for reviewing.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52B"/>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5B3DF5">
              <a:alpha val="22000"/>
            </a:srgbClr>
          </a:solidFill>
          <a:ln/>
        </p:spPr>
      </p:sp>
      <p:sp>
        <p:nvSpPr>
          <p:cNvPr id="3" name="Shape 1"/>
          <p:cNvSpPr/>
          <p:nvPr/>
        </p:nvSpPr>
        <p:spPr>
          <a:xfrm>
            <a:off x="10241280" y="3840480"/>
            <a:ext cx="3840480" cy="3840480"/>
          </a:xfrm>
          <a:prstGeom prst="ellipse">
            <a:avLst/>
          </a:prstGeom>
          <a:solidFill>
            <a:srgbClr val="4A2FD0">
              <a:alpha val="18000"/>
            </a:srgbClr>
          </a:solidFill>
          <a:ln/>
        </p:spPr>
      </p:sp>
      <p:sp>
        <p:nvSpPr>
          <p:cNvPr id="4" name="Shape 2"/>
          <p:cNvSpPr/>
          <p:nvPr/>
        </p:nvSpPr>
        <p:spPr>
          <a:xfrm>
            <a:off x="822960" y="1417320"/>
            <a:ext cx="777240" cy="777240"/>
          </a:xfrm>
          <a:prstGeom prst="roundRect">
            <a:avLst>
              <a:gd name="adj" fmla="val 21176"/>
            </a:avLst>
          </a:prstGeom>
          <a:solidFill>
            <a:srgbClr val="5B3DF5"/>
          </a:solidFill>
          <a:ln/>
        </p:spPr>
      </p:sp>
      <p:sp>
        <p:nvSpPr>
          <p:cNvPr id="5" name="Text 3"/>
          <p:cNvSpPr/>
          <p:nvPr/>
        </p:nvSpPr>
        <p:spPr>
          <a:xfrm>
            <a:off x="822960" y="141732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a:t>
            </a:r>
            <a:endParaRPr lang="en-US" sz="3000" dirty="0"/>
          </a:p>
        </p:txBody>
      </p:sp>
      <p:sp>
        <p:nvSpPr>
          <p:cNvPr id="6" name="Text 4"/>
          <p:cNvSpPr/>
          <p:nvPr/>
        </p:nvSpPr>
        <p:spPr>
          <a:xfrm>
            <a:off x="777240" y="2514600"/>
            <a:ext cx="10058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Ajaia Docs</a:t>
            </a:r>
            <a:endParaRPr lang="en-US" sz="5400" dirty="0"/>
          </a:p>
        </p:txBody>
      </p:sp>
      <p:sp>
        <p:nvSpPr>
          <p:cNvPr id="7" name="Text 5"/>
          <p:cNvSpPr/>
          <p:nvPr/>
        </p:nvSpPr>
        <p:spPr>
          <a:xfrm>
            <a:off x="822960" y="3474720"/>
            <a:ext cx="10058400" cy="457200"/>
          </a:xfrm>
          <a:prstGeom prst="rect">
            <a:avLst/>
          </a:prstGeom>
          <a:noFill/>
          <a:ln/>
        </p:spPr>
        <p:txBody>
          <a:bodyPr wrap="square" lIns="0" tIns="0" rIns="0" bIns="0" rtlCol="0" anchor="ctr"/>
          <a:lstStyle/>
          <a:p>
            <a:pPr indent="0" marL="0">
              <a:buNone/>
            </a:pPr>
            <a:r>
              <a:rPr lang="en-US" sz="2200" dirty="0">
                <a:solidFill>
                  <a:srgbClr val="B7A6FF"/>
                </a:solidFill>
                <a:latin typeface="Calibri" pitchFamily="34" charset="0"/>
                <a:ea typeface="Calibri" pitchFamily="34" charset="-122"/>
                <a:cs typeface="Calibri" pitchFamily="34" charset="-120"/>
              </a:rPr>
              <a:t>A lightweight collaborative document editor</a:t>
            </a:r>
            <a:endParaRPr lang="en-US" sz="2200" dirty="0"/>
          </a:p>
        </p:txBody>
      </p:sp>
      <p:sp>
        <p:nvSpPr>
          <p:cNvPr id="8" name="Text 6"/>
          <p:cNvSpPr/>
          <p:nvPr/>
        </p:nvSpPr>
        <p:spPr>
          <a:xfrm>
            <a:off x="822960" y="3977640"/>
            <a:ext cx="10058400" cy="365760"/>
          </a:xfrm>
          <a:prstGeom prst="rect">
            <a:avLst/>
          </a:prstGeom>
          <a:noFill/>
          <a:ln/>
        </p:spPr>
        <p:txBody>
          <a:bodyPr wrap="square" lIns="0" tIns="0" rIns="0" bIns="0" rtlCol="0" anchor="ctr"/>
          <a:lstStyle/>
          <a:p>
            <a:pPr indent="0" marL="0">
              <a:buNone/>
            </a:pPr>
            <a:r>
              <a:rPr lang="en-US" sz="1500" i="1" dirty="0">
                <a:solidFill>
                  <a:srgbClr val="9F98C0"/>
                </a:solidFill>
                <a:latin typeface="Calibri" pitchFamily="34" charset="0"/>
                <a:ea typeface="Calibri" pitchFamily="34" charset="-122"/>
                <a:cs typeface="Calibri" pitchFamily="34" charset="-120"/>
              </a:rPr>
              <a:t>Create · format · import · share</a:t>
            </a:r>
            <a:endParaRPr lang="en-US" sz="1500" dirty="0"/>
          </a:p>
        </p:txBody>
      </p:sp>
      <p:sp>
        <p:nvSpPr>
          <p:cNvPr id="9" name="Text 7"/>
          <p:cNvSpPr/>
          <p:nvPr/>
        </p:nvSpPr>
        <p:spPr>
          <a:xfrm>
            <a:off x="822960" y="5897880"/>
            <a:ext cx="10972800" cy="365760"/>
          </a:xfrm>
          <a:prstGeom prst="rect">
            <a:avLst/>
          </a:prstGeom>
          <a:noFill/>
          <a:ln/>
        </p:spPr>
        <p:txBody>
          <a:bodyPr wrap="square" lIns="0" tIns="0" rIns="0" bIns="0" rtlCol="0" anchor="ctr"/>
          <a:lstStyle/>
          <a:p>
            <a:pPr indent="0" marL="0">
              <a:buNone/>
            </a:pPr>
            <a:r>
              <a:rPr lang="en-US" sz="1300" dirty="0">
                <a:solidFill>
                  <a:srgbClr val="8C86AD"/>
                </a:solidFill>
                <a:latin typeface="Calibri" pitchFamily="34" charset="0"/>
                <a:ea typeface="Calibri" pitchFamily="34" charset="-122"/>
                <a:cs typeface="Calibri" pitchFamily="34" charset="-120"/>
              </a:rPr>
              <a:t>Full Stack Product Engineer assessment  ·  Next.js · Tiptap · Prisma/Postgres · Supabase + Vercel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THE APPROACH</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Scope: depth over breadth</a:t>
            </a:r>
            <a:endParaRPr lang="en-US" sz="3200" dirty="0"/>
          </a:p>
        </p:txBody>
      </p:sp>
      <p:sp>
        <p:nvSpPr>
          <p:cNvPr id="4" name="Text 2"/>
          <p:cNvSpPr/>
          <p:nvPr/>
        </p:nvSpPr>
        <p:spPr>
          <a:xfrm>
            <a:off x="640080" y="1554480"/>
            <a:ext cx="5486400" cy="1463040"/>
          </a:xfrm>
          <a:prstGeom prst="rect">
            <a:avLst/>
          </a:prstGeom>
          <a:noFill/>
          <a:ln/>
        </p:spPr>
        <p:txBody>
          <a:bodyPr wrap="square" lIns="0" tIns="0" rIns="0" bIns="0" rtlCol="0" anchor="ctr"/>
          <a:lstStyle/>
          <a:p>
            <a:pPr indent="0" marL="0">
              <a:lnSpc>
                <a:spcPct val="115000"/>
              </a:lnSpc>
              <a:buNone/>
            </a:pPr>
            <a:r>
              <a:rPr lang="en-US" sz="1600" dirty="0">
                <a:solidFill>
                  <a:srgbClr val="6B6878"/>
                </a:solidFill>
                <a:latin typeface="Calibri" pitchFamily="34" charset="0"/>
                <a:ea typeface="Calibri" pitchFamily="34" charset="-122"/>
                <a:cs typeface="Calibri" pitchFamily="34" charset="-120"/>
              </a:rPr>
              <a:t>The brief rewards deliberate cuts. I treated the editing experience and the sharing / access-control model as the two areas worth real depth, and kept everything else intentionally minimal.</a:t>
            </a:r>
            <a:endParaRPr lang="en-US" sz="1600" dirty="0"/>
          </a:p>
        </p:txBody>
      </p:sp>
      <p:sp>
        <p:nvSpPr>
          <p:cNvPr id="5" name="Shape 3"/>
          <p:cNvSpPr/>
          <p:nvPr/>
        </p:nvSpPr>
        <p:spPr>
          <a:xfrm>
            <a:off x="6492240" y="1554480"/>
            <a:ext cx="5029200" cy="1783080"/>
          </a:xfrm>
          <a:prstGeom prst="roundRect">
            <a:avLst>
              <a:gd name="adj" fmla="val 4615"/>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6" name="Text 4"/>
          <p:cNvSpPr/>
          <p:nvPr/>
        </p:nvSpPr>
        <p:spPr>
          <a:xfrm>
            <a:off x="6766560" y="1783080"/>
            <a:ext cx="4572000" cy="274320"/>
          </a:xfrm>
          <a:prstGeom prst="rect">
            <a:avLst/>
          </a:prstGeom>
          <a:noFill/>
          <a:ln/>
        </p:spPr>
        <p:txBody>
          <a:bodyPr wrap="square" lIns="0" tIns="0" rIns="0" bIns="0" rtlCol="0" anchor="ctr"/>
          <a:lstStyle/>
          <a:p>
            <a:pPr indent="0" marL="0">
              <a:buNone/>
            </a:pPr>
            <a:r>
              <a:rPr lang="en-US" sz="1300" b="1" spc="200" kern="0" dirty="0">
                <a:solidFill>
                  <a:srgbClr val="5B3DF5"/>
                </a:solidFill>
                <a:latin typeface="Calibri" pitchFamily="34" charset="0"/>
                <a:ea typeface="Calibri" pitchFamily="34" charset="-122"/>
                <a:cs typeface="Calibri" pitchFamily="34" charset="-120"/>
              </a:rPr>
              <a:t>WENT DEEP</a:t>
            </a:r>
            <a:endParaRPr lang="en-US" sz="1300" dirty="0"/>
          </a:p>
        </p:txBody>
      </p:sp>
      <p:sp>
        <p:nvSpPr>
          <p:cNvPr id="7" name="Text 5"/>
          <p:cNvSpPr/>
          <p:nvPr/>
        </p:nvSpPr>
        <p:spPr>
          <a:xfrm>
            <a:off x="6766560" y="2148840"/>
            <a:ext cx="4572000" cy="1097280"/>
          </a:xfrm>
          <a:prstGeom prst="rect">
            <a:avLst/>
          </a:prstGeom>
          <a:noFill/>
          <a:ln/>
        </p:spPr>
        <p:txBody>
          <a:bodyPr wrap="square" lIns="0" tIns="0" rIns="0" bIns="0" rtlCol="0" anchor="ctr"/>
          <a:lstStyle/>
          <a:p>
            <a:pPr marL="342900" indent="-342900">
              <a:spcAft>
                <a:spcPts val="500"/>
              </a:spcAft>
              <a:buSzPct val="100000"/>
              <a:buChar char="•"/>
            </a:pPr>
            <a:r>
              <a:rPr lang="en-US" sz="1350" dirty="0">
                <a:solidFill>
                  <a:srgbClr val="201C32"/>
                </a:solidFill>
                <a:latin typeface="Calibri" pitchFamily="34" charset="0"/>
                <a:ea typeface="Calibri" pitchFamily="34" charset="-122"/>
                <a:cs typeface="Calibri" pitchFamily="34" charset="-120"/>
              </a:rPr>
              <a:t>Coherent rich-text editor with autosave</a:t>
            </a:r>
            <a:endParaRPr lang="en-US" sz="1350" dirty="0"/>
          </a:p>
          <a:p>
            <a:pPr marL="342900" indent="-342900">
              <a:spcAft>
                <a:spcPts val="500"/>
              </a:spcAft>
              <a:buSzPct val="100000"/>
              <a:buChar char="•"/>
            </a:pPr>
            <a:r>
              <a:rPr lang="en-US" sz="1350" dirty="0">
                <a:solidFill>
                  <a:srgbClr val="201C32"/>
                </a:solidFill>
                <a:latin typeface="Calibri" pitchFamily="34" charset="0"/>
                <a:ea typeface="Calibri" pitchFamily="34" charset="-122"/>
                <a:cs typeface="Calibri" pitchFamily="34" charset="-120"/>
              </a:rPr>
              <a:t>Owner / Editor / Viewer sharing, enforced server-side</a:t>
            </a:r>
            <a:endParaRPr lang="en-US" sz="1350" dirty="0"/>
          </a:p>
          <a:p>
            <a:pPr marL="342900" indent="-342900">
              <a:spcAft>
                <a:spcPts val="500"/>
              </a:spcAft>
              <a:buSzPct val="100000"/>
              <a:buChar char="•"/>
            </a:pPr>
            <a:r>
              <a:rPr lang="en-US" sz="1350" dirty="0">
                <a:solidFill>
                  <a:srgbClr val="201C32"/>
                </a:solidFill>
                <a:latin typeface="Calibri" pitchFamily="34" charset="0"/>
                <a:ea typeface="Calibri" pitchFamily="34" charset="-122"/>
                <a:cs typeface="Calibri" pitchFamily="34" charset="-120"/>
              </a:rPr>
              <a:t>Pure, unit-tested authorization logic</a:t>
            </a:r>
            <a:endParaRPr lang="en-US" sz="1350" dirty="0"/>
          </a:p>
        </p:txBody>
      </p:sp>
      <p:sp>
        <p:nvSpPr>
          <p:cNvPr id="8" name="Shape 6"/>
          <p:cNvSpPr/>
          <p:nvPr/>
        </p:nvSpPr>
        <p:spPr>
          <a:xfrm>
            <a:off x="6492240" y="3520440"/>
            <a:ext cx="5029200" cy="1783080"/>
          </a:xfrm>
          <a:prstGeom prst="roundRect">
            <a:avLst>
              <a:gd name="adj" fmla="val 4615"/>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9" name="Text 7"/>
          <p:cNvSpPr/>
          <p:nvPr/>
        </p:nvSpPr>
        <p:spPr>
          <a:xfrm>
            <a:off x="6766560" y="3749040"/>
            <a:ext cx="4572000" cy="274320"/>
          </a:xfrm>
          <a:prstGeom prst="rect">
            <a:avLst/>
          </a:prstGeom>
          <a:noFill/>
          <a:ln/>
        </p:spPr>
        <p:txBody>
          <a:bodyPr wrap="square" lIns="0" tIns="0" rIns="0" bIns="0" rtlCol="0" anchor="ctr"/>
          <a:lstStyle/>
          <a:p>
            <a:pPr indent="0" marL="0">
              <a:buNone/>
            </a:pPr>
            <a:r>
              <a:rPr lang="en-US" sz="1300" b="1" spc="200" kern="0" dirty="0">
                <a:solidFill>
                  <a:srgbClr val="D14343"/>
                </a:solidFill>
                <a:latin typeface="Calibri" pitchFamily="34" charset="0"/>
                <a:ea typeface="Calibri" pitchFamily="34" charset="-122"/>
                <a:cs typeface="Calibri" pitchFamily="34" charset="-120"/>
              </a:rPr>
              <a:t>DELIBERATELY CUT</a:t>
            </a:r>
            <a:endParaRPr lang="en-US" sz="1300" dirty="0"/>
          </a:p>
        </p:txBody>
      </p:sp>
      <p:sp>
        <p:nvSpPr>
          <p:cNvPr id="10" name="Text 8"/>
          <p:cNvSpPr/>
          <p:nvPr/>
        </p:nvSpPr>
        <p:spPr>
          <a:xfrm>
            <a:off x="6766560" y="4114800"/>
            <a:ext cx="4572000" cy="1097280"/>
          </a:xfrm>
          <a:prstGeom prst="rect">
            <a:avLst/>
          </a:prstGeom>
          <a:noFill/>
          <a:ln/>
        </p:spPr>
        <p:txBody>
          <a:bodyPr wrap="square" lIns="0" tIns="0" rIns="0" bIns="0" rtlCol="0" anchor="ctr"/>
          <a:lstStyle/>
          <a:p>
            <a:pPr marL="342900" indent="-342900">
              <a:spcAft>
                <a:spcPts val="500"/>
              </a:spcAft>
              <a:buSzPct val="100000"/>
              <a:buChar char="•"/>
            </a:pPr>
            <a:r>
              <a:rPr lang="en-US" sz="1350" dirty="0">
                <a:solidFill>
                  <a:srgbClr val="201C32"/>
                </a:solidFill>
                <a:latin typeface="Calibri" pitchFamily="34" charset="0"/>
                <a:ea typeface="Calibri" pitchFamily="34" charset="-122"/>
                <a:cs typeface="Calibri" pitchFamily="34" charset="-120"/>
              </a:rPr>
              <a:t>Real-time multiplayer → autosave, last-write-wins</a:t>
            </a:r>
            <a:endParaRPr lang="en-US" sz="1350" dirty="0"/>
          </a:p>
          <a:p>
            <a:pPr marL="342900" indent="-342900">
              <a:spcAft>
                <a:spcPts val="500"/>
              </a:spcAft>
              <a:buSzPct val="100000"/>
              <a:buChar char="•"/>
            </a:pPr>
            <a:r>
              <a:rPr lang="en-US" sz="1350" dirty="0">
                <a:solidFill>
                  <a:srgbClr val="201C32"/>
                </a:solidFill>
                <a:latin typeface="Calibri" pitchFamily="34" charset="0"/>
                <a:ea typeface="Calibri" pitchFamily="34" charset="-122"/>
                <a:cs typeface="Calibri" pitchFamily="34" charset="-120"/>
              </a:rPr>
              <a:t>Passwords / OAuth → lightweight email session</a:t>
            </a:r>
            <a:endParaRPr lang="en-US" sz="1350" dirty="0"/>
          </a:p>
          <a:p>
            <a:pPr marL="342900" indent="-342900">
              <a:spcAft>
                <a:spcPts val="500"/>
              </a:spcAft>
              <a:buSzPct val="100000"/>
              <a:buChar char="•"/>
            </a:pPr>
            <a:r>
              <a:rPr lang="en-US" sz="1350" dirty="0">
                <a:solidFill>
                  <a:srgbClr val="201C32"/>
                </a:solidFill>
                <a:latin typeface="Calibri" pitchFamily="34" charset="0"/>
                <a:ea typeface="Calibri" pitchFamily="34" charset="-122"/>
                <a:cs typeface="Calibri" pitchFamily="34" charset="-120"/>
              </a:rPr>
              <a:t>Comments, version history, blob storage</a:t>
            </a:r>
            <a:endParaRPr lang="en-US" sz="1350" dirty="0"/>
          </a:p>
        </p:txBody>
      </p:sp>
      <p:sp>
        <p:nvSpPr>
          <p:cNvPr id="11" name="Shape 9"/>
          <p:cNvSpPr/>
          <p:nvPr/>
        </p:nvSpPr>
        <p:spPr>
          <a:xfrm>
            <a:off x="640080" y="3291840"/>
            <a:ext cx="5486400" cy="2011680"/>
          </a:xfrm>
          <a:prstGeom prst="roundRect">
            <a:avLst>
              <a:gd name="adj" fmla="val 4091"/>
            </a:avLst>
          </a:prstGeom>
          <a:solidFill>
            <a:srgbClr val="17152B"/>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2" name="Text 10"/>
          <p:cNvSpPr/>
          <p:nvPr/>
        </p:nvSpPr>
        <p:spPr>
          <a:xfrm>
            <a:off x="914400" y="3429000"/>
            <a:ext cx="2011680" cy="1737360"/>
          </a:xfrm>
          <a:prstGeom prst="rect">
            <a:avLst/>
          </a:prstGeom>
          <a:noFill/>
          <a:ln/>
        </p:spPr>
        <p:txBody>
          <a:bodyPr wrap="square" lIns="0" tIns="0" rIns="0" bIns="0" rtlCol="0" anchor="ctr"/>
          <a:lstStyle/>
          <a:p>
            <a:pPr algn="ctr" indent="0" marL="0">
              <a:buNone/>
            </a:pPr>
            <a:r>
              <a:rPr lang="en-US" sz="9600" b="1" dirty="0">
                <a:solidFill>
                  <a:srgbClr val="B7A6FF"/>
                </a:solidFill>
                <a:latin typeface="Cambria" pitchFamily="34" charset="0"/>
                <a:ea typeface="Cambria" pitchFamily="34" charset="-122"/>
                <a:cs typeface="Cambria" pitchFamily="34" charset="-120"/>
              </a:rPr>
              <a:t>4</a:t>
            </a:r>
            <a:endParaRPr lang="en-US" sz="9600" dirty="0"/>
          </a:p>
        </p:txBody>
      </p:sp>
      <p:sp>
        <p:nvSpPr>
          <p:cNvPr id="13" name="Text 11"/>
          <p:cNvSpPr/>
          <p:nvPr/>
        </p:nvSpPr>
        <p:spPr>
          <a:xfrm>
            <a:off x="2743200" y="3703320"/>
            <a:ext cx="3200400" cy="1280160"/>
          </a:xfrm>
          <a:prstGeom prst="rect">
            <a:avLst/>
          </a:prstGeom>
          <a:noFill/>
          <a:ln/>
        </p:spPr>
        <p:txBody>
          <a:bodyPr wrap="square" lIns="0" tIns="0" rIns="0" bIns="0" rtlCol="0" anchor="ctr"/>
          <a:lstStyle/>
          <a:p>
            <a:pPr indent="0" marL="0">
              <a:lnSpc>
                <a:spcPct val="110000"/>
              </a:lnSpc>
              <a:buNone/>
            </a:pPr>
            <a:r>
              <a:rPr lang="en-US" sz="1400" b="1" dirty="0">
                <a:solidFill>
                  <a:srgbClr val="E8E5F5"/>
                </a:solidFill>
                <a:latin typeface="Calibri" pitchFamily="34" charset="0"/>
                <a:ea typeface="Calibri" pitchFamily="34" charset="-122"/>
                <a:cs typeface="Calibri" pitchFamily="34" charset="-120"/>
              </a:rPr>
              <a:t>core areas, built end-to-end</a:t>
            </a:r>
            <a:endParaRPr lang="en-US" sz="1400" dirty="0"/>
          </a:p>
          <a:p>
            <a:pPr indent="0" marL="0">
              <a:lnSpc>
                <a:spcPct val="110000"/>
              </a:lnSpc>
              <a:buNone/>
            </a:pPr>
            <a:r>
              <a:rPr lang="en-US" sz="1400" dirty="0">
                <a:solidFill>
                  <a:srgbClr val="E8E5F5"/>
                </a:solidFill>
                <a:latin typeface="Calibri" pitchFamily="34" charset="0"/>
                <a:ea typeface="Calibri" pitchFamily="34" charset="-122"/>
                <a:cs typeface="Calibri" pitchFamily="34" charset="-120"/>
              </a:rPr>
              <a:t>Editing · Import · Sharing · Persistence — all working and verified, not stubbed.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LIVE PRODUCT</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The main user flow</a:t>
            </a:r>
            <a:endParaRPr lang="en-US" sz="3200" dirty="0"/>
          </a:p>
        </p:txBody>
      </p:sp>
      <p:sp>
        <p:nvSpPr>
          <p:cNvPr id="4" name="Shape 2"/>
          <p:cNvSpPr/>
          <p:nvPr/>
        </p:nvSpPr>
        <p:spPr>
          <a:xfrm>
            <a:off x="603504" y="1792224"/>
            <a:ext cx="3529584" cy="2503456"/>
          </a:xfrm>
          <a:prstGeom prst="roundRect">
            <a:avLst>
              <a:gd name="adj" fmla="val 2192"/>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pic>
        <p:nvPicPr>
          <p:cNvPr id="5" name="Image 0" descr="E:/Claude/Local/docs/screenshots/01-login.png">    </p:cNvPr>
          <p:cNvPicPr>
            <a:picLocks noChangeAspect="1"/>
          </p:cNvPicPr>
          <p:nvPr/>
        </p:nvPicPr>
        <p:blipFill>
          <a:blip r:embed="rId1"/>
          <a:stretch>
            <a:fillRect/>
          </a:stretch>
        </p:blipFill>
        <p:spPr>
          <a:xfrm>
            <a:off x="640080" y="1828800"/>
            <a:ext cx="3456432" cy="2430304"/>
          </a:xfrm>
          <a:prstGeom prst="rect">
            <a:avLst/>
          </a:prstGeom>
        </p:spPr>
      </p:pic>
      <p:sp>
        <p:nvSpPr>
          <p:cNvPr id="6" name="Shape 3"/>
          <p:cNvSpPr/>
          <p:nvPr/>
        </p:nvSpPr>
        <p:spPr>
          <a:xfrm>
            <a:off x="640080" y="1792224"/>
            <a:ext cx="365760" cy="365760"/>
          </a:xfrm>
          <a:prstGeom prst="ellipse">
            <a:avLst/>
          </a:prstGeom>
          <a:solidFill>
            <a:srgbClr val="5B3DF5"/>
          </a:solidFill>
          <a:ln/>
        </p:spPr>
      </p:sp>
      <p:sp>
        <p:nvSpPr>
          <p:cNvPr id="7" name="Text 4"/>
          <p:cNvSpPr/>
          <p:nvPr/>
        </p:nvSpPr>
        <p:spPr>
          <a:xfrm>
            <a:off x="640080" y="179222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640080" y="4368832"/>
            <a:ext cx="3456432" cy="457200"/>
          </a:xfrm>
          <a:prstGeom prst="rect">
            <a:avLst/>
          </a:prstGeom>
          <a:noFill/>
          <a:ln/>
        </p:spPr>
        <p:txBody>
          <a:bodyPr wrap="square" lIns="0" tIns="0" rIns="0" bIns="0" rtlCol="0" anchor="ctr"/>
          <a:lstStyle/>
          <a:p>
            <a:pPr algn="ctr" indent="0" marL="0">
              <a:buNone/>
            </a:pPr>
            <a:r>
              <a:rPr lang="en-US" sz="1250" dirty="0">
                <a:solidFill>
                  <a:srgbClr val="6B6878"/>
                </a:solidFill>
                <a:latin typeface="Calibri" pitchFamily="34" charset="0"/>
                <a:ea typeface="Calibri" pitchFamily="34" charset="-122"/>
                <a:cs typeface="Calibri" pitchFamily="34" charset="-120"/>
              </a:rPr>
              <a:t>Sign in by email — no password</a:t>
            </a:r>
            <a:endParaRPr lang="en-US" sz="1250" dirty="0"/>
          </a:p>
        </p:txBody>
      </p:sp>
      <p:sp>
        <p:nvSpPr>
          <p:cNvPr id="9" name="Shape 6"/>
          <p:cNvSpPr/>
          <p:nvPr/>
        </p:nvSpPr>
        <p:spPr>
          <a:xfrm>
            <a:off x="4315968" y="1792224"/>
            <a:ext cx="3529584" cy="2503456"/>
          </a:xfrm>
          <a:prstGeom prst="roundRect">
            <a:avLst>
              <a:gd name="adj" fmla="val 2192"/>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pic>
        <p:nvPicPr>
          <p:cNvPr id="10" name="Image 1" descr="E:/Claude/Local/docs/screenshots/02-dashboard.png">    </p:cNvPr>
          <p:cNvPicPr>
            <a:picLocks noChangeAspect="1"/>
          </p:cNvPicPr>
          <p:nvPr/>
        </p:nvPicPr>
        <p:blipFill>
          <a:blip r:embed="rId2"/>
          <a:stretch>
            <a:fillRect/>
          </a:stretch>
        </p:blipFill>
        <p:spPr>
          <a:xfrm>
            <a:off x="4352544" y="1828800"/>
            <a:ext cx="3456432" cy="2430304"/>
          </a:xfrm>
          <a:prstGeom prst="rect">
            <a:avLst/>
          </a:prstGeom>
        </p:spPr>
      </p:pic>
      <p:sp>
        <p:nvSpPr>
          <p:cNvPr id="11" name="Shape 7"/>
          <p:cNvSpPr/>
          <p:nvPr/>
        </p:nvSpPr>
        <p:spPr>
          <a:xfrm>
            <a:off x="4352544" y="1792224"/>
            <a:ext cx="365760" cy="365760"/>
          </a:xfrm>
          <a:prstGeom prst="ellipse">
            <a:avLst/>
          </a:prstGeom>
          <a:solidFill>
            <a:srgbClr val="5B3DF5"/>
          </a:solidFill>
          <a:ln/>
        </p:spPr>
      </p:sp>
      <p:sp>
        <p:nvSpPr>
          <p:cNvPr id="12" name="Text 8"/>
          <p:cNvSpPr/>
          <p:nvPr/>
        </p:nvSpPr>
        <p:spPr>
          <a:xfrm>
            <a:off x="4352544" y="179222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9"/>
          <p:cNvSpPr/>
          <p:nvPr/>
        </p:nvSpPr>
        <p:spPr>
          <a:xfrm>
            <a:off x="4352544" y="4368832"/>
            <a:ext cx="3456432" cy="457200"/>
          </a:xfrm>
          <a:prstGeom prst="rect">
            <a:avLst/>
          </a:prstGeom>
          <a:noFill/>
          <a:ln/>
        </p:spPr>
        <p:txBody>
          <a:bodyPr wrap="square" lIns="0" tIns="0" rIns="0" bIns="0" rtlCol="0" anchor="ctr"/>
          <a:lstStyle/>
          <a:p>
            <a:pPr algn="ctr" indent="0" marL="0">
              <a:buNone/>
            </a:pPr>
            <a:r>
              <a:rPr lang="en-US" sz="1250" dirty="0">
                <a:solidFill>
                  <a:srgbClr val="6B6878"/>
                </a:solidFill>
                <a:latin typeface="Calibri" pitchFamily="34" charset="0"/>
                <a:ea typeface="Calibri" pitchFamily="34" charset="-122"/>
                <a:cs typeface="Calibri" pitchFamily="34" charset="-120"/>
              </a:rPr>
              <a:t>Owned vs. Shared, with role badges</a:t>
            </a:r>
            <a:endParaRPr lang="en-US" sz="1250" dirty="0"/>
          </a:p>
        </p:txBody>
      </p:sp>
      <p:sp>
        <p:nvSpPr>
          <p:cNvPr id="14" name="Shape 10"/>
          <p:cNvSpPr/>
          <p:nvPr/>
        </p:nvSpPr>
        <p:spPr>
          <a:xfrm>
            <a:off x="8028432" y="1792224"/>
            <a:ext cx="3529584" cy="2503456"/>
          </a:xfrm>
          <a:prstGeom prst="roundRect">
            <a:avLst>
              <a:gd name="adj" fmla="val 2192"/>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pic>
        <p:nvPicPr>
          <p:cNvPr id="15" name="Image 2" descr="E:/Claude/Local/docs/screenshots/03-editor.png">    </p:cNvPr>
          <p:cNvPicPr>
            <a:picLocks noChangeAspect="1"/>
          </p:cNvPicPr>
          <p:nvPr/>
        </p:nvPicPr>
        <p:blipFill>
          <a:blip r:embed="rId3"/>
          <a:stretch>
            <a:fillRect/>
          </a:stretch>
        </p:blipFill>
        <p:spPr>
          <a:xfrm>
            <a:off x="8065008" y="1828800"/>
            <a:ext cx="3456432" cy="2430304"/>
          </a:xfrm>
          <a:prstGeom prst="rect">
            <a:avLst/>
          </a:prstGeom>
        </p:spPr>
      </p:pic>
      <p:sp>
        <p:nvSpPr>
          <p:cNvPr id="16" name="Shape 11"/>
          <p:cNvSpPr/>
          <p:nvPr/>
        </p:nvSpPr>
        <p:spPr>
          <a:xfrm>
            <a:off x="8065008" y="1792224"/>
            <a:ext cx="365760" cy="365760"/>
          </a:xfrm>
          <a:prstGeom prst="ellipse">
            <a:avLst/>
          </a:prstGeom>
          <a:solidFill>
            <a:srgbClr val="5B3DF5"/>
          </a:solidFill>
          <a:ln/>
        </p:spPr>
      </p:sp>
      <p:sp>
        <p:nvSpPr>
          <p:cNvPr id="17" name="Text 12"/>
          <p:cNvSpPr/>
          <p:nvPr/>
        </p:nvSpPr>
        <p:spPr>
          <a:xfrm>
            <a:off x="8065008" y="179222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3"/>
          <p:cNvSpPr/>
          <p:nvPr/>
        </p:nvSpPr>
        <p:spPr>
          <a:xfrm>
            <a:off x="8065008" y="4368832"/>
            <a:ext cx="3456432" cy="457200"/>
          </a:xfrm>
          <a:prstGeom prst="rect">
            <a:avLst/>
          </a:prstGeom>
          <a:noFill/>
          <a:ln/>
        </p:spPr>
        <p:txBody>
          <a:bodyPr wrap="square" lIns="0" tIns="0" rIns="0" bIns="0" rtlCol="0" anchor="ctr"/>
          <a:lstStyle/>
          <a:p>
            <a:pPr algn="ctr" indent="0" marL="0">
              <a:buNone/>
            </a:pPr>
            <a:r>
              <a:rPr lang="en-US" sz="1250" dirty="0">
                <a:solidFill>
                  <a:srgbClr val="6B6878"/>
                </a:solidFill>
                <a:latin typeface="Calibri" pitchFamily="34" charset="0"/>
                <a:ea typeface="Calibri" pitchFamily="34" charset="-122"/>
                <a:cs typeface="Calibri" pitchFamily="34" charset="-120"/>
              </a:rPr>
              <a:t>Rich-text editor with autosave</a:t>
            </a:r>
            <a:endParaRPr lang="en-US" sz="1250" dirty="0"/>
          </a:p>
        </p:txBody>
      </p:sp>
      <p:sp>
        <p:nvSpPr>
          <p:cNvPr id="19" name="Text 14"/>
          <p:cNvSpPr/>
          <p:nvPr/>
        </p:nvSpPr>
        <p:spPr>
          <a:xfrm>
            <a:off x="640080" y="5989320"/>
            <a:ext cx="10972800" cy="365760"/>
          </a:xfrm>
          <a:prstGeom prst="rect">
            <a:avLst/>
          </a:prstGeom>
          <a:noFill/>
          <a:ln/>
        </p:spPr>
        <p:txBody>
          <a:bodyPr wrap="square" lIns="0" tIns="0" rIns="0" bIns="0" rtlCol="0" anchor="ctr"/>
          <a:lstStyle/>
          <a:p>
            <a:pPr algn="ctr" indent="0" marL="0">
              <a:buNone/>
            </a:pPr>
            <a:r>
              <a:rPr lang="en-US" sz="1350" i="1" dirty="0">
                <a:solidFill>
                  <a:srgbClr val="5B3DF5"/>
                </a:solidFill>
                <a:latin typeface="Calibri" pitchFamily="34" charset="0"/>
                <a:ea typeface="Calibri" pitchFamily="34" charset="-122"/>
                <a:cs typeface="Calibri" pitchFamily="34" charset="-120"/>
              </a:rPr>
              <a:t>Live demo + 3 seeded accounts (alice / ben / carol @ajaia.test) make the sharing flow testable in seconds.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CAPABILITIES</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What it does</a:t>
            </a:r>
            <a:endParaRPr lang="en-US" sz="3200" dirty="0"/>
          </a:p>
        </p:txBody>
      </p:sp>
      <p:sp>
        <p:nvSpPr>
          <p:cNvPr id="4" name="Shape 2"/>
          <p:cNvSpPr/>
          <p:nvPr/>
        </p:nvSpPr>
        <p:spPr>
          <a:xfrm>
            <a:off x="640080" y="1645920"/>
            <a:ext cx="5120640" cy="1965960"/>
          </a:xfrm>
          <a:prstGeom prst="roundRect">
            <a:avLst>
              <a:gd name="adj" fmla="val 4186"/>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960120" y="1965960"/>
            <a:ext cx="384048" cy="384048"/>
          </a:xfrm>
          <a:prstGeom prst="ellipse">
            <a:avLst/>
          </a:prstGeom>
          <a:solidFill>
            <a:srgbClr val="5B3DF5"/>
          </a:solidFill>
          <a:ln/>
        </p:spPr>
      </p:sp>
      <p:sp>
        <p:nvSpPr>
          <p:cNvPr id="6" name="Text 4"/>
          <p:cNvSpPr/>
          <p:nvPr/>
        </p:nvSpPr>
        <p:spPr>
          <a:xfrm>
            <a:off x="960120" y="19659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08760" y="1956816"/>
            <a:ext cx="4023360" cy="457200"/>
          </a:xfrm>
          <a:prstGeom prst="rect">
            <a:avLst/>
          </a:prstGeom>
          <a:noFill/>
          <a:ln/>
        </p:spPr>
        <p:txBody>
          <a:bodyPr wrap="square" lIns="0" tIns="0" rIns="0" bIns="0" rtlCol="0" anchor="ctr"/>
          <a:lstStyle/>
          <a:p>
            <a:pPr indent="0" marL="0">
              <a:buNone/>
            </a:pPr>
            <a:r>
              <a:rPr lang="en-US" sz="1900" b="1" dirty="0">
                <a:solidFill>
                  <a:srgbClr val="201C32"/>
                </a:solidFill>
                <a:latin typeface="Cambria" pitchFamily="34" charset="0"/>
                <a:ea typeface="Cambria" pitchFamily="34" charset="-122"/>
                <a:cs typeface="Cambria" pitchFamily="34" charset="-120"/>
              </a:rPr>
              <a:t>Rich-text editing</a:t>
            </a:r>
            <a:endParaRPr lang="en-US" sz="1900" dirty="0"/>
          </a:p>
        </p:txBody>
      </p:sp>
      <p:sp>
        <p:nvSpPr>
          <p:cNvPr id="8" name="Text 6"/>
          <p:cNvSpPr/>
          <p:nvPr/>
        </p:nvSpPr>
        <p:spPr>
          <a:xfrm>
            <a:off x="960120" y="2560320"/>
            <a:ext cx="4480560" cy="914400"/>
          </a:xfrm>
          <a:prstGeom prst="rect">
            <a:avLst/>
          </a:prstGeom>
          <a:noFill/>
          <a:ln/>
        </p:spPr>
        <p:txBody>
          <a:bodyPr wrap="square" lIns="0" tIns="0" rIns="0" bIns="0" rtlCol="0" anchor="ctr"/>
          <a:lstStyle/>
          <a:p>
            <a:pPr indent="0" marL="0">
              <a:lnSpc>
                <a:spcPct val="112000"/>
              </a:lnSpc>
              <a:buNone/>
            </a:pPr>
            <a:r>
              <a:rPr lang="en-US" sz="1350" dirty="0">
                <a:solidFill>
                  <a:srgbClr val="6B6878"/>
                </a:solidFill>
                <a:latin typeface="Calibri" pitchFamily="34" charset="0"/>
                <a:ea typeface="Calibri" pitchFamily="34" charset="-122"/>
                <a:cs typeface="Calibri" pitchFamily="34" charset="-120"/>
              </a:rPr>
              <a:t>Tiptap/ProseMirror: bold, italic, underline, H1/H2, bullet &amp; numbered lists, quotes, undo/redo — stored as structured JSON.</a:t>
            </a:r>
            <a:endParaRPr lang="en-US" sz="1350" dirty="0"/>
          </a:p>
        </p:txBody>
      </p:sp>
      <p:sp>
        <p:nvSpPr>
          <p:cNvPr id="9" name="Shape 7"/>
          <p:cNvSpPr/>
          <p:nvPr/>
        </p:nvSpPr>
        <p:spPr>
          <a:xfrm>
            <a:off x="6309360" y="1645920"/>
            <a:ext cx="5120640" cy="1965960"/>
          </a:xfrm>
          <a:prstGeom prst="roundRect">
            <a:avLst>
              <a:gd name="adj" fmla="val 4186"/>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0" name="Shape 8"/>
          <p:cNvSpPr/>
          <p:nvPr/>
        </p:nvSpPr>
        <p:spPr>
          <a:xfrm>
            <a:off x="6629400" y="1965960"/>
            <a:ext cx="384048" cy="384048"/>
          </a:xfrm>
          <a:prstGeom prst="ellipse">
            <a:avLst/>
          </a:prstGeom>
          <a:solidFill>
            <a:srgbClr val="5B3DF5"/>
          </a:solidFill>
          <a:ln/>
        </p:spPr>
      </p:sp>
      <p:sp>
        <p:nvSpPr>
          <p:cNvPr id="11" name="Text 9"/>
          <p:cNvSpPr/>
          <p:nvPr/>
        </p:nvSpPr>
        <p:spPr>
          <a:xfrm>
            <a:off x="6629400" y="19659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178040" y="1956816"/>
            <a:ext cx="4023360" cy="457200"/>
          </a:xfrm>
          <a:prstGeom prst="rect">
            <a:avLst/>
          </a:prstGeom>
          <a:noFill/>
          <a:ln/>
        </p:spPr>
        <p:txBody>
          <a:bodyPr wrap="square" lIns="0" tIns="0" rIns="0" bIns="0" rtlCol="0" anchor="ctr"/>
          <a:lstStyle/>
          <a:p>
            <a:pPr indent="0" marL="0">
              <a:buNone/>
            </a:pPr>
            <a:r>
              <a:rPr lang="en-US" sz="1900" b="1" dirty="0">
                <a:solidFill>
                  <a:srgbClr val="201C32"/>
                </a:solidFill>
                <a:latin typeface="Cambria" pitchFamily="34" charset="0"/>
                <a:ea typeface="Cambria" pitchFamily="34" charset="-122"/>
                <a:cs typeface="Cambria" pitchFamily="34" charset="-120"/>
              </a:rPr>
              <a:t>File import</a:t>
            </a:r>
            <a:endParaRPr lang="en-US" sz="1900" dirty="0"/>
          </a:p>
        </p:txBody>
      </p:sp>
      <p:sp>
        <p:nvSpPr>
          <p:cNvPr id="13" name="Text 11"/>
          <p:cNvSpPr/>
          <p:nvPr/>
        </p:nvSpPr>
        <p:spPr>
          <a:xfrm>
            <a:off x="6629400" y="2560320"/>
            <a:ext cx="4480560" cy="914400"/>
          </a:xfrm>
          <a:prstGeom prst="rect">
            <a:avLst/>
          </a:prstGeom>
          <a:noFill/>
          <a:ln/>
        </p:spPr>
        <p:txBody>
          <a:bodyPr wrap="square" lIns="0" tIns="0" rIns="0" bIns="0" rtlCol="0" anchor="ctr"/>
          <a:lstStyle/>
          <a:p>
            <a:pPr indent="0" marL="0">
              <a:lnSpc>
                <a:spcPct val="112000"/>
              </a:lnSpc>
              <a:buNone/>
            </a:pPr>
            <a:r>
              <a:rPr lang="en-US" sz="1350" dirty="0">
                <a:solidFill>
                  <a:srgbClr val="6B6878"/>
                </a:solidFill>
                <a:latin typeface="Calibri" pitchFamily="34" charset="0"/>
                <a:ea typeface="Calibri" pitchFamily="34" charset="-122"/>
                <a:cs typeface="Calibri" pitchFamily="34" charset="-120"/>
              </a:rPr>
              <a:t>Upload .txt, .md, or .docx (≤5 MB) → a new editable document with headings, lists and formatting preserved.</a:t>
            </a:r>
            <a:endParaRPr lang="en-US" sz="1350" dirty="0"/>
          </a:p>
        </p:txBody>
      </p:sp>
      <p:sp>
        <p:nvSpPr>
          <p:cNvPr id="14" name="Shape 12"/>
          <p:cNvSpPr/>
          <p:nvPr/>
        </p:nvSpPr>
        <p:spPr>
          <a:xfrm>
            <a:off x="640080" y="3977640"/>
            <a:ext cx="5120640" cy="1965960"/>
          </a:xfrm>
          <a:prstGeom prst="roundRect">
            <a:avLst>
              <a:gd name="adj" fmla="val 4186"/>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5" name="Shape 13"/>
          <p:cNvSpPr/>
          <p:nvPr/>
        </p:nvSpPr>
        <p:spPr>
          <a:xfrm>
            <a:off x="960120" y="4297680"/>
            <a:ext cx="384048" cy="384048"/>
          </a:xfrm>
          <a:prstGeom prst="ellipse">
            <a:avLst/>
          </a:prstGeom>
          <a:solidFill>
            <a:srgbClr val="5B3DF5"/>
          </a:solidFill>
          <a:ln/>
        </p:spPr>
      </p:sp>
      <p:sp>
        <p:nvSpPr>
          <p:cNvPr id="16" name="Text 14"/>
          <p:cNvSpPr/>
          <p:nvPr/>
        </p:nvSpPr>
        <p:spPr>
          <a:xfrm>
            <a:off x="960120" y="42976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08760" y="4288536"/>
            <a:ext cx="4023360" cy="457200"/>
          </a:xfrm>
          <a:prstGeom prst="rect">
            <a:avLst/>
          </a:prstGeom>
          <a:noFill/>
          <a:ln/>
        </p:spPr>
        <p:txBody>
          <a:bodyPr wrap="square" lIns="0" tIns="0" rIns="0" bIns="0" rtlCol="0" anchor="ctr"/>
          <a:lstStyle/>
          <a:p>
            <a:pPr indent="0" marL="0">
              <a:buNone/>
            </a:pPr>
            <a:r>
              <a:rPr lang="en-US" sz="1900" b="1" dirty="0">
                <a:solidFill>
                  <a:srgbClr val="201C32"/>
                </a:solidFill>
                <a:latin typeface="Cambria" pitchFamily="34" charset="0"/>
                <a:ea typeface="Cambria" pitchFamily="34" charset="-122"/>
                <a:cs typeface="Cambria" pitchFamily="34" charset="-120"/>
              </a:rPr>
              <a:t>Sharing &amp; roles</a:t>
            </a:r>
            <a:endParaRPr lang="en-US" sz="1900" dirty="0"/>
          </a:p>
        </p:txBody>
      </p:sp>
      <p:sp>
        <p:nvSpPr>
          <p:cNvPr id="18" name="Text 16"/>
          <p:cNvSpPr/>
          <p:nvPr/>
        </p:nvSpPr>
        <p:spPr>
          <a:xfrm>
            <a:off x="960120" y="4892040"/>
            <a:ext cx="4480560" cy="914400"/>
          </a:xfrm>
          <a:prstGeom prst="rect">
            <a:avLst/>
          </a:prstGeom>
          <a:noFill/>
          <a:ln/>
        </p:spPr>
        <p:txBody>
          <a:bodyPr wrap="square" lIns="0" tIns="0" rIns="0" bIns="0" rtlCol="0" anchor="ctr"/>
          <a:lstStyle/>
          <a:p>
            <a:pPr indent="0" marL="0">
              <a:lnSpc>
                <a:spcPct val="112000"/>
              </a:lnSpc>
              <a:buNone/>
            </a:pPr>
            <a:r>
              <a:rPr lang="en-US" sz="1350" dirty="0">
                <a:solidFill>
                  <a:srgbClr val="6B6878"/>
                </a:solidFill>
                <a:latin typeface="Calibri" pitchFamily="34" charset="0"/>
                <a:ea typeface="Calibri" pitchFamily="34" charset="-122"/>
                <a:cs typeface="Calibri" pitchFamily="34" charset="-120"/>
              </a:rPr>
              <a:t>Share by email with Viewer (read-only) or Editor rights. Change or revoke access anytime from the share dialog.</a:t>
            </a:r>
            <a:endParaRPr lang="en-US" sz="1350" dirty="0"/>
          </a:p>
        </p:txBody>
      </p:sp>
      <p:sp>
        <p:nvSpPr>
          <p:cNvPr id="19" name="Shape 17"/>
          <p:cNvSpPr/>
          <p:nvPr/>
        </p:nvSpPr>
        <p:spPr>
          <a:xfrm>
            <a:off x="6309360" y="3977640"/>
            <a:ext cx="5120640" cy="1965960"/>
          </a:xfrm>
          <a:prstGeom prst="roundRect">
            <a:avLst>
              <a:gd name="adj" fmla="val 4186"/>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20" name="Shape 18"/>
          <p:cNvSpPr/>
          <p:nvPr/>
        </p:nvSpPr>
        <p:spPr>
          <a:xfrm>
            <a:off x="6629400" y="4297680"/>
            <a:ext cx="384048" cy="384048"/>
          </a:xfrm>
          <a:prstGeom prst="ellipse">
            <a:avLst/>
          </a:prstGeom>
          <a:solidFill>
            <a:srgbClr val="5B3DF5"/>
          </a:solidFill>
          <a:ln/>
        </p:spPr>
      </p:sp>
      <p:sp>
        <p:nvSpPr>
          <p:cNvPr id="21" name="Text 19"/>
          <p:cNvSpPr/>
          <p:nvPr/>
        </p:nvSpPr>
        <p:spPr>
          <a:xfrm>
            <a:off x="6629400" y="42976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178040" y="4288536"/>
            <a:ext cx="4023360" cy="457200"/>
          </a:xfrm>
          <a:prstGeom prst="rect">
            <a:avLst/>
          </a:prstGeom>
          <a:noFill/>
          <a:ln/>
        </p:spPr>
        <p:txBody>
          <a:bodyPr wrap="square" lIns="0" tIns="0" rIns="0" bIns="0" rtlCol="0" anchor="ctr"/>
          <a:lstStyle/>
          <a:p>
            <a:pPr indent="0" marL="0">
              <a:buNone/>
            </a:pPr>
            <a:r>
              <a:rPr lang="en-US" sz="1900" b="1" dirty="0">
                <a:solidFill>
                  <a:srgbClr val="201C32"/>
                </a:solidFill>
                <a:latin typeface="Cambria" pitchFamily="34" charset="0"/>
                <a:ea typeface="Cambria" pitchFamily="34" charset="-122"/>
                <a:cs typeface="Cambria" pitchFamily="34" charset="-120"/>
              </a:rPr>
              <a:t>Persistence &amp; autosave</a:t>
            </a:r>
            <a:endParaRPr lang="en-US" sz="1900" dirty="0"/>
          </a:p>
        </p:txBody>
      </p:sp>
      <p:sp>
        <p:nvSpPr>
          <p:cNvPr id="23" name="Text 21"/>
          <p:cNvSpPr/>
          <p:nvPr/>
        </p:nvSpPr>
        <p:spPr>
          <a:xfrm>
            <a:off x="6629400" y="4892040"/>
            <a:ext cx="4480560" cy="914400"/>
          </a:xfrm>
          <a:prstGeom prst="rect">
            <a:avLst/>
          </a:prstGeom>
          <a:noFill/>
          <a:ln/>
        </p:spPr>
        <p:txBody>
          <a:bodyPr wrap="square" lIns="0" tIns="0" rIns="0" bIns="0" rtlCol="0" anchor="ctr"/>
          <a:lstStyle/>
          <a:p>
            <a:pPr indent="0" marL="0">
              <a:lnSpc>
                <a:spcPct val="112000"/>
              </a:lnSpc>
              <a:buNone/>
            </a:pPr>
            <a:r>
              <a:rPr lang="en-US" sz="1350" dirty="0">
                <a:solidFill>
                  <a:srgbClr val="6B6878"/>
                </a:solidFill>
                <a:latin typeface="Calibri" pitchFamily="34" charset="0"/>
                <a:ea typeface="Calibri" pitchFamily="34" charset="-122"/>
                <a:cs typeface="Calibri" pitchFamily="34" charset="-120"/>
              </a:rPr>
              <a:t>Debounced autosave with a live status indicator. Documents and shares persist in Postgres across refresh.</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Architecture</a:t>
            </a:r>
            <a:endParaRPr lang="en-US" sz="3200" dirty="0"/>
          </a:p>
        </p:txBody>
      </p:sp>
      <p:sp>
        <p:nvSpPr>
          <p:cNvPr id="4" name="Shape 2"/>
          <p:cNvSpPr/>
          <p:nvPr/>
        </p:nvSpPr>
        <p:spPr>
          <a:xfrm>
            <a:off x="640080" y="1874520"/>
            <a:ext cx="1874520" cy="1143000"/>
          </a:xfrm>
          <a:prstGeom prst="roundRect">
            <a:avLst>
              <a:gd name="adj" fmla="val 6400"/>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5" name="Text 3"/>
          <p:cNvSpPr/>
          <p:nvPr/>
        </p:nvSpPr>
        <p:spPr>
          <a:xfrm>
            <a:off x="640080" y="187452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201C32"/>
                </a:solidFill>
                <a:latin typeface="Calibri" pitchFamily="34" charset="0"/>
                <a:ea typeface="Calibri" pitchFamily="34" charset="-122"/>
                <a:cs typeface="Calibri" pitchFamily="34" charset="-120"/>
              </a:rPr>
              <a:t>Browser</a:t>
            </a:r>
            <a:endParaRPr lang="en-US" sz="1250" dirty="0"/>
          </a:p>
          <a:p>
            <a:pPr algn="ctr" indent="0" marL="0">
              <a:buNone/>
            </a:pPr>
            <a:r>
              <a:rPr lang="en-US" sz="1250" b="1" dirty="0">
                <a:solidFill>
                  <a:srgbClr val="201C32"/>
                </a:solidFill>
                <a:latin typeface="Calibri" pitchFamily="34" charset="0"/>
                <a:ea typeface="Calibri" pitchFamily="34" charset="-122"/>
                <a:cs typeface="Calibri" pitchFamily="34" charset="-120"/>
              </a:rPr>
              <a:t>(React + Tiptap)</a:t>
            </a:r>
            <a:endParaRPr lang="en-US" sz="1250" dirty="0"/>
          </a:p>
        </p:txBody>
      </p:sp>
      <p:sp>
        <p:nvSpPr>
          <p:cNvPr id="6" name="Text 4"/>
          <p:cNvSpPr/>
          <p:nvPr/>
        </p:nvSpPr>
        <p:spPr>
          <a:xfrm>
            <a:off x="2514600" y="1874520"/>
            <a:ext cx="347472" cy="1143000"/>
          </a:xfrm>
          <a:prstGeom prst="rect">
            <a:avLst/>
          </a:prstGeom>
          <a:noFill/>
          <a:ln/>
        </p:spPr>
        <p:txBody>
          <a:bodyPr wrap="square" lIns="0" tIns="0" rIns="0" bIns="0" rtlCol="0" anchor="ctr"/>
          <a:lstStyle/>
          <a:p>
            <a:pPr algn="ctr" indent="0" marL="0">
              <a:buNone/>
            </a:pPr>
            <a:r>
              <a:rPr lang="en-US" sz="2200" b="1" dirty="0">
                <a:solidFill>
                  <a:srgbClr val="5B3DF5"/>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862072" y="1874520"/>
            <a:ext cx="1874520" cy="1143000"/>
          </a:xfrm>
          <a:prstGeom prst="roundRect">
            <a:avLst>
              <a:gd name="adj" fmla="val 6400"/>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8" name="Text 6"/>
          <p:cNvSpPr/>
          <p:nvPr/>
        </p:nvSpPr>
        <p:spPr>
          <a:xfrm>
            <a:off x="2862072" y="187452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201C32"/>
                </a:solidFill>
                <a:latin typeface="Calibri" pitchFamily="34" charset="0"/>
                <a:ea typeface="Calibri" pitchFamily="34" charset="-122"/>
                <a:cs typeface="Calibri" pitchFamily="34" charset="-120"/>
              </a:rPr>
              <a:t>Next.js</a:t>
            </a:r>
            <a:endParaRPr lang="en-US" sz="1250" dirty="0"/>
          </a:p>
          <a:p>
            <a:pPr algn="ctr" indent="0" marL="0">
              <a:buNone/>
            </a:pPr>
            <a:r>
              <a:rPr lang="en-US" sz="1250" b="1" dirty="0">
                <a:solidFill>
                  <a:srgbClr val="201C32"/>
                </a:solidFill>
                <a:latin typeface="Calibri" pitchFamily="34" charset="0"/>
                <a:ea typeface="Calibri" pitchFamily="34" charset="-122"/>
                <a:cs typeface="Calibri" pitchFamily="34" charset="-120"/>
              </a:rPr>
              <a:t>Route Handlers</a:t>
            </a:r>
            <a:endParaRPr lang="en-US" sz="1250" dirty="0"/>
          </a:p>
        </p:txBody>
      </p:sp>
      <p:sp>
        <p:nvSpPr>
          <p:cNvPr id="9" name="Text 7"/>
          <p:cNvSpPr/>
          <p:nvPr/>
        </p:nvSpPr>
        <p:spPr>
          <a:xfrm>
            <a:off x="4736592" y="1874520"/>
            <a:ext cx="347472" cy="1143000"/>
          </a:xfrm>
          <a:prstGeom prst="rect">
            <a:avLst/>
          </a:prstGeom>
          <a:noFill/>
          <a:ln/>
        </p:spPr>
        <p:txBody>
          <a:bodyPr wrap="square" lIns="0" tIns="0" rIns="0" bIns="0" rtlCol="0" anchor="ctr"/>
          <a:lstStyle/>
          <a:p>
            <a:pPr algn="ctr" indent="0" marL="0">
              <a:buNone/>
            </a:pPr>
            <a:r>
              <a:rPr lang="en-US" sz="2200" b="1" dirty="0">
                <a:solidFill>
                  <a:srgbClr val="5B3DF5"/>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084064" y="1874520"/>
            <a:ext cx="1874520" cy="1143000"/>
          </a:xfrm>
          <a:prstGeom prst="roundRect">
            <a:avLst>
              <a:gd name="adj" fmla="val 6400"/>
            </a:avLst>
          </a:prstGeom>
          <a:solidFill>
            <a:srgbClr val="5B3DF5"/>
          </a:solidFill>
          <a:ln w="12700">
            <a:solidFill>
              <a:srgbClr val="5B3DF5"/>
            </a:solidFill>
            <a:prstDash val="solid"/>
          </a:ln>
          <a:effectLst>
            <a:outerShdw sx="100000" sy="100000" kx="0" ky="0" algn="bl" rotWithShape="0" blurRad="114300" dist="38100" dir="5400000">
              <a:srgbClr val="000000">
                <a:alpha val="10000"/>
              </a:srgbClr>
            </a:outerShdw>
          </a:effectLst>
        </p:spPr>
      </p:sp>
      <p:sp>
        <p:nvSpPr>
          <p:cNvPr id="11" name="Text 9"/>
          <p:cNvSpPr/>
          <p:nvPr/>
        </p:nvSpPr>
        <p:spPr>
          <a:xfrm>
            <a:off x="5084064" y="187452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access.ts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(authorization)</a:t>
            </a:r>
            <a:endParaRPr lang="en-US" sz="1250" dirty="0"/>
          </a:p>
        </p:txBody>
      </p:sp>
      <p:sp>
        <p:nvSpPr>
          <p:cNvPr id="12" name="Text 10"/>
          <p:cNvSpPr/>
          <p:nvPr/>
        </p:nvSpPr>
        <p:spPr>
          <a:xfrm>
            <a:off x="6958584" y="1874520"/>
            <a:ext cx="347472" cy="1143000"/>
          </a:xfrm>
          <a:prstGeom prst="rect">
            <a:avLst/>
          </a:prstGeom>
          <a:noFill/>
          <a:ln/>
        </p:spPr>
        <p:txBody>
          <a:bodyPr wrap="square" lIns="0" tIns="0" rIns="0" bIns="0" rtlCol="0" anchor="ctr"/>
          <a:lstStyle/>
          <a:p>
            <a:pPr algn="ctr" indent="0" marL="0">
              <a:buNone/>
            </a:pPr>
            <a:r>
              <a:rPr lang="en-US" sz="2200" b="1" dirty="0">
                <a:solidFill>
                  <a:srgbClr val="5B3DF5"/>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306056" y="1874520"/>
            <a:ext cx="1874520" cy="1143000"/>
          </a:xfrm>
          <a:prstGeom prst="roundRect">
            <a:avLst>
              <a:gd name="adj" fmla="val 6400"/>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4" name="Text 12"/>
          <p:cNvSpPr/>
          <p:nvPr/>
        </p:nvSpPr>
        <p:spPr>
          <a:xfrm>
            <a:off x="7306056" y="187452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201C32"/>
                </a:solidFill>
                <a:latin typeface="Calibri" pitchFamily="34" charset="0"/>
                <a:ea typeface="Calibri" pitchFamily="34" charset="-122"/>
                <a:cs typeface="Calibri" pitchFamily="34" charset="-120"/>
              </a:rPr>
              <a:t>Prisma ORM</a:t>
            </a:r>
            <a:endParaRPr lang="en-US" sz="1250" dirty="0"/>
          </a:p>
        </p:txBody>
      </p:sp>
      <p:sp>
        <p:nvSpPr>
          <p:cNvPr id="15" name="Text 13"/>
          <p:cNvSpPr/>
          <p:nvPr/>
        </p:nvSpPr>
        <p:spPr>
          <a:xfrm>
            <a:off x="9180576" y="1874520"/>
            <a:ext cx="347472" cy="1143000"/>
          </a:xfrm>
          <a:prstGeom prst="rect">
            <a:avLst/>
          </a:prstGeom>
          <a:noFill/>
          <a:ln/>
        </p:spPr>
        <p:txBody>
          <a:bodyPr wrap="square" lIns="0" tIns="0" rIns="0" bIns="0" rtlCol="0" anchor="ctr"/>
          <a:lstStyle/>
          <a:p>
            <a:pPr algn="ctr" indent="0" marL="0">
              <a:buNone/>
            </a:pPr>
            <a:r>
              <a:rPr lang="en-US" sz="2200" b="1" dirty="0">
                <a:solidFill>
                  <a:srgbClr val="5B3DF5"/>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528048" y="1874520"/>
            <a:ext cx="1874520" cy="1143000"/>
          </a:xfrm>
          <a:prstGeom prst="roundRect">
            <a:avLst>
              <a:gd name="adj" fmla="val 6400"/>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7" name="Text 15"/>
          <p:cNvSpPr/>
          <p:nvPr/>
        </p:nvSpPr>
        <p:spPr>
          <a:xfrm>
            <a:off x="9528048" y="187452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201C32"/>
                </a:solidFill>
                <a:latin typeface="Calibri" pitchFamily="34" charset="0"/>
                <a:ea typeface="Calibri" pitchFamily="34" charset="-122"/>
                <a:cs typeface="Calibri" pitchFamily="34" charset="-120"/>
              </a:rPr>
              <a:t>Postgres</a:t>
            </a:r>
            <a:endParaRPr lang="en-US" sz="1250" dirty="0"/>
          </a:p>
          <a:p>
            <a:pPr algn="ctr" indent="0" marL="0">
              <a:buNone/>
            </a:pPr>
            <a:r>
              <a:rPr lang="en-US" sz="1250" b="1" dirty="0">
                <a:solidFill>
                  <a:srgbClr val="201C32"/>
                </a:solidFill>
                <a:latin typeface="Calibri" pitchFamily="34" charset="0"/>
                <a:ea typeface="Calibri" pitchFamily="34" charset="-122"/>
                <a:cs typeface="Calibri" pitchFamily="34" charset="-120"/>
              </a:rPr>
              <a:t>(Supabase)</a:t>
            </a:r>
            <a:endParaRPr lang="en-US" sz="1250" dirty="0"/>
          </a:p>
        </p:txBody>
      </p:sp>
      <p:sp>
        <p:nvSpPr>
          <p:cNvPr id="18" name="Text 16"/>
          <p:cNvSpPr/>
          <p:nvPr/>
        </p:nvSpPr>
        <p:spPr>
          <a:xfrm>
            <a:off x="640080" y="3154680"/>
            <a:ext cx="10972800" cy="365760"/>
          </a:xfrm>
          <a:prstGeom prst="rect">
            <a:avLst/>
          </a:prstGeom>
          <a:noFill/>
          <a:ln/>
        </p:spPr>
        <p:txBody>
          <a:bodyPr wrap="square" lIns="0" tIns="0" rIns="0" bIns="0" rtlCol="0" anchor="ctr"/>
          <a:lstStyle/>
          <a:p>
            <a:pPr indent="0" marL="0">
              <a:buNone/>
            </a:pPr>
            <a:r>
              <a:rPr lang="en-US" sz="1300" i="1" dirty="0">
                <a:solidFill>
                  <a:srgbClr val="6B6878"/>
                </a:solidFill>
                <a:latin typeface="Calibri" pitchFamily="34" charset="0"/>
                <a:ea typeface="Calibri" pitchFamily="34" charset="-122"/>
                <a:cs typeface="Calibri" pitchFamily="34" charset="-120"/>
              </a:rPr>
              <a:t>Every request re-checks access — the editor's read-only mode is a convenience, not the security boundary.</a:t>
            </a:r>
            <a:endParaRPr lang="en-US" sz="1300" dirty="0"/>
          </a:p>
        </p:txBody>
      </p:sp>
      <p:sp>
        <p:nvSpPr>
          <p:cNvPr id="19" name="Shape 17"/>
          <p:cNvSpPr/>
          <p:nvPr/>
        </p:nvSpPr>
        <p:spPr>
          <a:xfrm>
            <a:off x="640080" y="3794760"/>
            <a:ext cx="5486400" cy="2377440"/>
          </a:xfrm>
          <a:prstGeom prst="roundRect">
            <a:avLst>
              <a:gd name="adj" fmla="val 3462"/>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20" name="Text 18"/>
          <p:cNvSpPr/>
          <p:nvPr/>
        </p:nvSpPr>
        <p:spPr>
          <a:xfrm>
            <a:off x="914400" y="3977640"/>
            <a:ext cx="4572000" cy="274320"/>
          </a:xfrm>
          <a:prstGeom prst="rect">
            <a:avLst/>
          </a:prstGeom>
          <a:noFill/>
          <a:ln/>
        </p:spPr>
        <p:txBody>
          <a:bodyPr wrap="square" lIns="0" tIns="0" rIns="0" bIns="0" rtlCol="0" anchor="ctr"/>
          <a:lstStyle/>
          <a:p>
            <a:pPr indent="0" marL="0">
              <a:buNone/>
            </a:pPr>
            <a:r>
              <a:rPr lang="en-US" sz="1200" b="1" spc="200" kern="0" dirty="0">
                <a:solidFill>
                  <a:srgbClr val="5B3DF5"/>
                </a:solidFill>
                <a:latin typeface="Calibri" pitchFamily="34" charset="0"/>
                <a:ea typeface="Calibri" pitchFamily="34" charset="-122"/>
                <a:cs typeface="Calibri" pitchFamily="34" charset="-120"/>
              </a:rPr>
              <a:t>STACK</a:t>
            </a:r>
            <a:endParaRPr lang="en-US" sz="1200" dirty="0"/>
          </a:p>
        </p:txBody>
      </p:sp>
      <p:sp>
        <p:nvSpPr>
          <p:cNvPr id="21" name="Text 19"/>
          <p:cNvSpPr/>
          <p:nvPr/>
        </p:nvSpPr>
        <p:spPr>
          <a:xfrm>
            <a:off x="914400" y="4343400"/>
            <a:ext cx="4937760" cy="173736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201C32"/>
                </a:solidFill>
                <a:latin typeface="Calibri" pitchFamily="34" charset="0"/>
                <a:ea typeface="Calibri" pitchFamily="34" charset="-122"/>
                <a:cs typeface="Calibri" pitchFamily="34" charset="-120"/>
              </a:rPr>
              <a:t>Next.js 16 (App Router) + TypeScript</a:t>
            </a:r>
            <a:endParaRPr lang="en-US" sz="1350" dirty="0"/>
          </a:p>
          <a:p>
            <a:pPr marL="342900" indent="-342900">
              <a:spcAft>
                <a:spcPts val="600"/>
              </a:spcAft>
              <a:buSzPct val="100000"/>
              <a:buChar char="•"/>
            </a:pPr>
            <a:r>
              <a:rPr lang="en-US" sz="1350" dirty="0">
                <a:solidFill>
                  <a:srgbClr val="201C32"/>
                </a:solidFill>
                <a:latin typeface="Calibri" pitchFamily="34" charset="0"/>
                <a:ea typeface="Calibri" pitchFamily="34" charset="-122"/>
                <a:cs typeface="Calibri" pitchFamily="34" charset="-120"/>
              </a:rPr>
              <a:t>Tiptap 3 editor · shadcn/ui + framer-motion</a:t>
            </a:r>
            <a:endParaRPr lang="en-US" sz="1350" dirty="0"/>
          </a:p>
          <a:p>
            <a:pPr marL="342900" indent="-342900">
              <a:spcAft>
                <a:spcPts val="600"/>
              </a:spcAft>
              <a:buSzPct val="100000"/>
              <a:buChar char="•"/>
            </a:pPr>
            <a:r>
              <a:rPr lang="en-US" sz="1350" dirty="0">
                <a:solidFill>
                  <a:srgbClr val="201C32"/>
                </a:solidFill>
                <a:latin typeface="Calibri" pitchFamily="34" charset="0"/>
                <a:ea typeface="Calibri" pitchFamily="34" charset="-122"/>
                <a:cs typeface="Calibri" pitchFamily="34" charset="-120"/>
              </a:rPr>
              <a:t>Prisma 6 · iron-session (encrypted cookie)</a:t>
            </a:r>
            <a:endParaRPr lang="en-US" sz="1350" dirty="0"/>
          </a:p>
          <a:p>
            <a:pPr marL="342900" indent="-342900">
              <a:spcAft>
                <a:spcPts val="600"/>
              </a:spcAft>
              <a:buSzPct val="100000"/>
              <a:buChar char="•"/>
            </a:pPr>
            <a:r>
              <a:rPr lang="en-US" sz="1350" dirty="0">
                <a:solidFill>
                  <a:srgbClr val="201C32"/>
                </a:solidFill>
                <a:latin typeface="Calibri" pitchFamily="34" charset="0"/>
                <a:ea typeface="Calibri" pitchFamily="34" charset="-122"/>
                <a:cs typeface="Calibri" pitchFamily="34" charset="-120"/>
              </a:rPr>
              <a:t>Zod validation · Vitest tests</a:t>
            </a:r>
            <a:endParaRPr lang="en-US" sz="1350" dirty="0"/>
          </a:p>
        </p:txBody>
      </p:sp>
      <p:sp>
        <p:nvSpPr>
          <p:cNvPr id="22" name="Shape 20"/>
          <p:cNvSpPr/>
          <p:nvPr/>
        </p:nvSpPr>
        <p:spPr>
          <a:xfrm>
            <a:off x="6400800" y="3794760"/>
            <a:ext cx="5120640" cy="2377440"/>
          </a:xfrm>
          <a:prstGeom prst="roundRect">
            <a:avLst>
              <a:gd name="adj" fmla="val 3462"/>
            </a:avLst>
          </a:prstGeom>
          <a:solidFill>
            <a:srgbClr val="17152B"/>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23" name="Text 21"/>
          <p:cNvSpPr/>
          <p:nvPr/>
        </p:nvSpPr>
        <p:spPr>
          <a:xfrm>
            <a:off x="6675120" y="3977640"/>
            <a:ext cx="4572000" cy="274320"/>
          </a:xfrm>
          <a:prstGeom prst="rect">
            <a:avLst/>
          </a:prstGeom>
          <a:noFill/>
          <a:ln/>
        </p:spPr>
        <p:txBody>
          <a:bodyPr wrap="square" lIns="0" tIns="0" rIns="0" bIns="0" rtlCol="0" anchor="ctr"/>
          <a:lstStyle/>
          <a:p>
            <a:pPr indent="0" marL="0">
              <a:buNone/>
            </a:pPr>
            <a:r>
              <a:rPr lang="en-US" sz="1200" b="1" spc="200" kern="0" dirty="0">
                <a:solidFill>
                  <a:srgbClr val="B7A6FF"/>
                </a:solidFill>
                <a:latin typeface="Calibri" pitchFamily="34" charset="0"/>
                <a:ea typeface="Calibri" pitchFamily="34" charset="-122"/>
                <a:cs typeface="Calibri" pitchFamily="34" charset="-120"/>
              </a:rPr>
              <a:t>DATA MODEL</a:t>
            </a:r>
            <a:endParaRPr lang="en-US" sz="1200" dirty="0"/>
          </a:p>
        </p:txBody>
      </p:sp>
      <p:sp>
        <p:nvSpPr>
          <p:cNvPr id="24" name="Text 22"/>
          <p:cNvSpPr/>
          <p:nvPr/>
        </p:nvSpPr>
        <p:spPr>
          <a:xfrm>
            <a:off x="6675120" y="438912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User</a:t>
            </a:r>
            <a:pPr indent="0" marL="0">
              <a:buNone/>
            </a:pPr>
            <a:r>
              <a:rPr lang="en-US" sz="1400" dirty="0">
                <a:solidFill>
                  <a:srgbClr val="9F98C0"/>
                </a:solidFill>
                <a:latin typeface="Calibri" pitchFamily="34" charset="0"/>
                <a:ea typeface="Calibri" pitchFamily="34" charset="-122"/>
                <a:cs typeface="Calibri" pitchFamily="34" charset="-120"/>
              </a:rPr>
              <a:t>  id · email · name</a:t>
            </a:r>
            <a:endParaRPr lang="en-US" sz="1400" dirty="0"/>
          </a:p>
        </p:txBody>
      </p:sp>
      <p:sp>
        <p:nvSpPr>
          <p:cNvPr id="25" name="Text 23"/>
          <p:cNvSpPr/>
          <p:nvPr/>
        </p:nvSpPr>
        <p:spPr>
          <a:xfrm>
            <a:off x="6675120" y="480060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Document</a:t>
            </a:r>
            <a:pPr indent="0" marL="0">
              <a:buNone/>
            </a:pPr>
            <a:r>
              <a:rPr lang="en-US" sz="1400" dirty="0">
                <a:solidFill>
                  <a:srgbClr val="9F98C0"/>
                </a:solidFill>
                <a:latin typeface="Calibri" pitchFamily="34" charset="0"/>
                <a:ea typeface="Calibri" pitchFamily="34" charset="-122"/>
                <a:cs typeface="Calibri" pitchFamily="34" charset="-120"/>
              </a:rPr>
              <a:t>  title · content(JSON) · owner</a:t>
            </a:r>
            <a:endParaRPr lang="en-US" sz="1400" dirty="0"/>
          </a:p>
        </p:txBody>
      </p:sp>
      <p:sp>
        <p:nvSpPr>
          <p:cNvPr id="26" name="Text 24"/>
          <p:cNvSpPr/>
          <p:nvPr/>
        </p:nvSpPr>
        <p:spPr>
          <a:xfrm>
            <a:off x="6675120" y="5212080"/>
            <a:ext cx="4663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Share</a:t>
            </a:r>
            <a:pPr indent="0" marL="0">
              <a:buNone/>
            </a:pPr>
            <a:r>
              <a:rPr lang="en-US" sz="1400" dirty="0">
                <a:solidFill>
                  <a:srgbClr val="9F98C0"/>
                </a:solidFill>
                <a:latin typeface="Calibri" pitchFamily="34" charset="0"/>
                <a:ea typeface="Calibri" pitchFamily="34" charset="-122"/>
                <a:cs typeface="Calibri" pitchFamily="34" charset="-120"/>
              </a:rPr>
              <a:t>  document · user · role(VIEWER|EDITOR)</a:t>
            </a:r>
            <a:endParaRPr lang="en-US" sz="1400" dirty="0"/>
          </a:p>
        </p:txBody>
      </p:sp>
      <p:sp>
        <p:nvSpPr>
          <p:cNvPr id="27" name="Text 25"/>
          <p:cNvSpPr/>
          <p:nvPr/>
        </p:nvSpPr>
        <p:spPr>
          <a:xfrm>
            <a:off x="6675120" y="5669280"/>
            <a:ext cx="4572000" cy="274320"/>
          </a:xfrm>
          <a:prstGeom prst="rect">
            <a:avLst/>
          </a:prstGeom>
          <a:noFill/>
          <a:ln/>
        </p:spPr>
        <p:txBody>
          <a:bodyPr wrap="square" lIns="0" tIns="0" rIns="0" bIns="0" rtlCol="0" anchor="ctr"/>
          <a:lstStyle/>
          <a:p>
            <a:pPr indent="0" marL="0">
              <a:buNone/>
            </a:pPr>
            <a:r>
              <a:rPr lang="en-US" sz="1150" i="1" dirty="0">
                <a:solidFill>
                  <a:srgbClr val="8C86AD"/>
                </a:solidFill>
                <a:latin typeface="Calibri" pitchFamily="34" charset="0"/>
                <a:ea typeface="Calibri" pitchFamily="34" charset="-122"/>
                <a:cs typeface="Calibri" pitchFamily="34" charset="-120"/>
              </a:rPr>
              <a:t>unique(document, user) — one role per collaborator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THE DEPTH AREA</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Access control, done properly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583680" cy="914400"/>
        </p:xfrm>
        <a:graphic>
          <a:graphicData uri="http://schemas.openxmlformats.org/drawingml/2006/table">
            <a:tbl>
              <a:tblPr/>
              <a:tblGrid>
                <a:gridCol w="2743200"/>
                <a:gridCol w="960120"/>
                <a:gridCol w="960120"/>
                <a:gridCol w="960120"/>
                <a:gridCol w="960120"/>
              </a:tblGrid>
              <a:tr h="457200">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5B3DF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Editor</a:t>
                      </a:r>
                      <a:endParaRPr lang="en-US" sz="12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5B3DF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Viewer</a:t>
                      </a:r>
                      <a:endParaRPr lang="en-US" sz="12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5B3DF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Other</a:t>
                      </a:r>
                      <a:endParaRPr lang="en-US" sz="12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5B3DF5"/>
                    </a:solidFill>
                  </a:tcPr>
                </a:tc>
              </a:tr>
              <a:tr h="502920">
                <a:tc>
                  <a:txBody>
                    <a:bodyPr/>
                    <a:lstStyle/>
                    <a:p>
                      <a:pPr algn="l" indent="0" marL="0">
                        <a:buNone/>
                      </a:pPr>
                      <a:r>
                        <a:rPr lang="en-US" sz="1500" b="1" dirty="0">
                          <a:solidFill>
                            <a:srgbClr val="201C32"/>
                          </a:solidFill>
                          <a:latin typeface="Calibri" pitchFamily="34" charset="0"/>
                          <a:ea typeface="Calibri" pitchFamily="34" charset="-122"/>
                          <a:cs typeface="Calibri" pitchFamily="34" charset="-120"/>
                        </a:rPr>
                        <a:t>View document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9D6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9D6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9D6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D1434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201C32"/>
                          </a:solidFill>
                          <a:latin typeface="Calibri" pitchFamily="34" charset="0"/>
                          <a:ea typeface="Calibri" pitchFamily="34" charset="-122"/>
                          <a:cs typeface="Calibri" pitchFamily="34" charset="-120"/>
                        </a:rPr>
                        <a:t>Edit title / content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7F5FF"/>
                    </a:solidFill>
                  </a:tcPr>
                </a:tc>
                <a:tc>
                  <a:txBody>
                    <a:bodyPr/>
                    <a:lstStyle/>
                    <a:p>
                      <a:pPr algn="ctr" indent="0" marL="0">
                        <a:buNone/>
                      </a:pPr>
                      <a:r>
                        <a:rPr lang="en-US" sz="1500" dirty="0">
                          <a:solidFill>
                            <a:srgbClr val="1F9D6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7F5FF"/>
                    </a:solidFill>
                  </a:tcPr>
                </a:tc>
                <a:tc>
                  <a:txBody>
                    <a:bodyPr/>
                    <a:lstStyle/>
                    <a:p>
                      <a:pPr algn="ctr" indent="0" marL="0">
                        <a:buNone/>
                      </a:pPr>
                      <a:r>
                        <a:rPr lang="en-US" sz="1500" dirty="0">
                          <a:solidFill>
                            <a:srgbClr val="1F9D6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7F5FF"/>
                    </a:solidFill>
                  </a:tcPr>
                </a:tc>
                <a:tc>
                  <a:txBody>
                    <a:bodyPr/>
                    <a:lstStyle/>
                    <a:p>
                      <a:pPr algn="ctr" indent="0" marL="0">
                        <a:buNone/>
                      </a:pPr>
                      <a:r>
                        <a:rPr lang="en-US" sz="1500" dirty="0">
                          <a:solidFill>
                            <a:srgbClr val="D1434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7F5FF"/>
                    </a:solidFill>
                  </a:tcPr>
                </a:tc>
                <a:tc>
                  <a:txBody>
                    <a:bodyPr/>
                    <a:lstStyle/>
                    <a:p>
                      <a:pPr algn="ctr" indent="0" marL="0">
                        <a:buNone/>
                      </a:pPr>
                      <a:r>
                        <a:rPr lang="en-US" sz="1500" dirty="0">
                          <a:solidFill>
                            <a:srgbClr val="D1434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7F5FF"/>
                    </a:solidFill>
                  </a:tcPr>
                </a:tc>
              </a:tr>
              <a:tr h="502920">
                <a:tc>
                  <a:txBody>
                    <a:bodyPr/>
                    <a:lstStyle/>
                    <a:p>
                      <a:pPr algn="l" indent="0" marL="0">
                        <a:buNone/>
                      </a:pPr>
                      <a:r>
                        <a:rPr lang="en-US" sz="1500" b="1" dirty="0">
                          <a:solidFill>
                            <a:srgbClr val="201C32"/>
                          </a:solidFill>
                          <a:latin typeface="Calibri" pitchFamily="34" charset="0"/>
                          <a:ea typeface="Calibri" pitchFamily="34" charset="-122"/>
                          <a:cs typeface="Calibri" pitchFamily="34" charset="-120"/>
                        </a:rPr>
                        <a:t>Share / rename / delete</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9D6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D1434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D1434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D1434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6E3F0"/>
                      </a:solidFill>
                      <a:prstDash val="solid"/>
                      <a:round/>
                      <a:headEnd type="none" w="med" len="med"/>
                      <a:tailEnd type="none" w="med" len="med"/>
                    </a:lnL>
                    <a:lnR w="12700" cap="flat" cmpd="sng" algn="ctr">
                      <a:solidFill>
                        <a:srgbClr val="E6E3F0"/>
                      </a:solidFill>
                      <a:prstDash val="solid"/>
                      <a:round/>
                      <a:headEnd type="none" w="med" len="med"/>
                      <a:tailEnd type="none" w="med" len="med"/>
                    </a:lnR>
                    <a:lnT w="12700" cap="flat" cmpd="sng" algn="ctr">
                      <a:solidFill>
                        <a:srgbClr val="E6E3F0"/>
                      </a:solidFill>
                      <a:prstDash val="solid"/>
                      <a:round/>
                      <a:headEnd type="none" w="med" len="med"/>
                      <a:tailEnd type="none" w="med" len="med"/>
                    </a:lnT>
                    <a:lnB w="12700" cap="flat" cmpd="sng" algn="ctr">
                      <a:solidFill>
                        <a:srgbClr val="E6E3F0"/>
                      </a:solidFill>
                      <a:prstDash val="solid"/>
                      <a:round/>
                      <a:headEnd type="none" w="med" len="med"/>
                      <a:tailEnd type="none" w="med" len="med"/>
                    </a:lnB>
                    <a:solidFill>
                      <a:srgbClr val="FFFFFF"/>
                    </a:solidFill>
                  </a:tcPr>
                </a:tc>
              </a:tr>
            </a:tbl>
          </a:graphicData>
        </a:graphic>
      </p:graphicFrame>
      <p:sp>
        <p:nvSpPr>
          <p:cNvPr id="5" name="Shape 2"/>
          <p:cNvSpPr/>
          <p:nvPr/>
        </p:nvSpPr>
        <p:spPr>
          <a:xfrm>
            <a:off x="7589520" y="1783080"/>
            <a:ext cx="3931920" cy="2423160"/>
          </a:xfrm>
          <a:prstGeom prst="roundRect">
            <a:avLst>
              <a:gd name="adj" fmla="val 3396"/>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6" name="Text 3"/>
          <p:cNvSpPr/>
          <p:nvPr/>
        </p:nvSpPr>
        <p:spPr>
          <a:xfrm>
            <a:off x="7863840" y="1965960"/>
            <a:ext cx="3474720" cy="365760"/>
          </a:xfrm>
          <a:prstGeom prst="rect">
            <a:avLst/>
          </a:prstGeom>
          <a:noFill/>
          <a:ln/>
        </p:spPr>
        <p:txBody>
          <a:bodyPr wrap="square" lIns="0" tIns="0" rIns="0" bIns="0" rtlCol="0" anchor="ctr"/>
          <a:lstStyle/>
          <a:p>
            <a:pPr indent="0" marL="0">
              <a:buNone/>
            </a:pPr>
            <a:r>
              <a:rPr lang="en-US" sz="1700" b="1" dirty="0">
                <a:solidFill>
                  <a:srgbClr val="201C32"/>
                </a:solidFill>
                <a:latin typeface="Cambria" pitchFamily="34" charset="0"/>
                <a:ea typeface="Cambria" pitchFamily="34" charset="-122"/>
                <a:cs typeface="Cambria" pitchFamily="34" charset="-120"/>
              </a:rPr>
              <a:t>Why it's solid</a:t>
            </a:r>
            <a:endParaRPr lang="en-US" sz="1700" dirty="0"/>
          </a:p>
        </p:txBody>
      </p:sp>
      <p:sp>
        <p:nvSpPr>
          <p:cNvPr id="7" name="Text 4"/>
          <p:cNvSpPr/>
          <p:nvPr/>
        </p:nvSpPr>
        <p:spPr>
          <a:xfrm>
            <a:off x="7863840" y="2423160"/>
            <a:ext cx="3383280" cy="164592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201C32"/>
                </a:solidFill>
                <a:latin typeface="Calibri" pitchFamily="34" charset="0"/>
                <a:ea typeface="Calibri" pitchFamily="34" charset="-122"/>
                <a:cs typeface="Calibri" pitchFamily="34" charset="-120"/>
              </a:rPr>
              <a:t>Pure functions, zero DB deps</a:t>
            </a:r>
            <a:endParaRPr lang="en-US" sz="1350" dirty="0"/>
          </a:p>
          <a:p>
            <a:pPr marL="342900" indent="-342900">
              <a:spcAft>
                <a:spcPts val="700"/>
              </a:spcAft>
              <a:buSzPct val="100000"/>
              <a:buChar char="•"/>
            </a:pPr>
            <a:r>
              <a:rPr lang="en-US" sz="1350" dirty="0">
                <a:solidFill>
                  <a:srgbClr val="201C32"/>
                </a:solidFill>
                <a:latin typeface="Calibri" pitchFamily="34" charset="0"/>
                <a:ea typeface="Calibri" pitchFamily="34" charset="-122"/>
                <a:cs typeface="Calibri" pitchFamily="34" charset="-120"/>
              </a:rPr>
              <a:t>Same logic on every endpoint — no drift</a:t>
            </a:r>
            <a:endParaRPr lang="en-US" sz="1350" dirty="0"/>
          </a:p>
          <a:p>
            <a:pPr marL="342900" indent="-342900">
              <a:spcAft>
                <a:spcPts val="700"/>
              </a:spcAft>
              <a:buSzPct val="100000"/>
              <a:buChar char="•"/>
            </a:pPr>
            <a:r>
              <a:rPr lang="en-US" sz="1350" dirty="0">
                <a:solidFill>
                  <a:srgbClr val="201C32"/>
                </a:solidFill>
                <a:latin typeface="Calibri" pitchFamily="34" charset="0"/>
                <a:ea typeface="Calibri" pitchFamily="34" charset="-122"/>
                <a:cs typeface="Calibri" pitchFamily="34" charset="-120"/>
              </a:rPr>
              <a:t>18 Vitest cases cover the full matrix</a:t>
            </a:r>
            <a:endParaRPr lang="en-US" sz="1350" dirty="0"/>
          </a:p>
        </p:txBody>
      </p:sp>
      <p:sp>
        <p:nvSpPr>
          <p:cNvPr id="8" name="Text 5"/>
          <p:cNvSpPr/>
          <p:nvPr/>
        </p:nvSpPr>
        <p:spPr>
          <a:xfrm>
            <a:off x="640080" y="4572000"/>
            <a:ext cx="10972800" cy="274320"/>
          </a:xfrm>
          <a:prstGeom prst="rect">
            <a:avLst/>
          </a:prstGeom>
          <a:noFill/>
          <a:ln/>
        </p:spPr>
        <p:txBody>
          <a:bodyPr wrap="square" lIns="0" tIns="0" rIns="0" bIns="0" rtlCol="0" anchor="ctr"/>
          <a:lstStyle/>
          <a:p>
            <a:pPr indent="0" marL="0">
              <a:buNone/>
            </a:pPr>
            <a:r>
              <a:rPr lang="en-US" sz="1400" b="1" dirty="0">
                <a:solidFill>
                  <a:srgbClr val="201C32"/>
                </a:solidFill>
                <a:latin typeface="Calibri" pitchFamily="34" charset="0"/>
                <a:ea typeface="Calibri" pitchFamily="34" charset="-122"/>
                <a:cs typeface="Calibri" pitchFamily="34" charset="-120"/>
              </a:rPr>
              <a:t>Verified live against the API:</a:t>
            </a:r>
            <a:endParaRPr lang="en-US" sz="1400" dirty="0"/>
          </a:p>
        </p:txBody>
      </p:sp>
      <p:sp>
        <p:nvSpPr>
          <p:cNvPr id="9" name="Shape 6"/>
          <p:cNvSpPr/>
          <p:nvPr/>
        </p:nvSpPr>
        <p:spPr>
          <a:xfrm>
            <a:off x="640080" y="4937760"/>
            <a:ext cx="2651760" cy="960120"/>
          </a:xfrm>
          <a:prstGeom prst="roundRect">
            <a:avLst>
              <a:gd name="adj" fmla="val 8571"/>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0" name="Text 7"/>
          <p:cNvSpPr/>
          <p:nvPr/>
        </p:nvSpPr>
        <p:spPr>
          <a:xfrm>
            <a:off x="640080" y="5074920"/>
            <a:ext cx="2651760" cy="502920"/>
          </a:xfrm>
          <a:prstGeom prst="rect">
            <a:avLst/>
          </a:prstGeom>
          <a:noFill/>
          <a:ln/>
        </p:spPr>
        <p:txBody>
          <a:bodyPr wrap="square" lIns="0" tIns="0" rIns="0" bIns="0" rtlCol="0" anchor="ctr"/>
          <a:lstStyle/>
          <a:p>
            <a:pPr algn="ctr" indent="0" marL="0">
              <a:buNone/>
            </a:pPr>
            <a:r>
              <a:rPr lang="en-US" sz="2400" b="1" dirty="0">
                <a:solidFill>
                  <a:srgbClr val="5B3DF5"/>
                </a:solidFill>
                <a:latin typeface="Cambria" pitchFamily="34" charset="0"/>
                <a:ea typeface="Cambria" pitchFamily="34" charset="-122"/>
                <a:cs typeface="Cambria" pitchFamily="34" charset="-120"/>
              </a:rPr>
              <a:t>403</a:t>
            </a:r>
            <a:endParaRPr lang="en-US" sz="2400" dirty="0"/>
          </a:p>
        </p:txBody>
      </p:sp>
      <p:sp>
        <p:nvSpPr>
          <p:cNvPr id="11" name="Text 8"/>
          <p:cNvSpPr/>
          <p:nvPr/>
        </p:nvSpPr>
        <p:spPr>
          <a:xfrm>
            <a:off x="640080" y="5532120"/>
            <a:ext cx="2651760" cy="320040"/>
          </a:xfrm>
          <a:prstGeom prst="rect">
            <a:avLst/>
          </a:prstGeom>
          <a:noFill/>
          <a:ln/>
        </p:spPr>
        <p:txBody>
          <a:bodyPr wrap="square" lIns="0" tIns="0" rIns="0" bIns="0" rtlCol="0" anchor="ctr"/>
          <a:lstStyle/>
          <a:p>
            <a:pPr algn="ctr" indent="0" marL="0">
              <a:buNone/>
            </a:pPr>
            <a:r>
              <a:rPr lang="en-US" sz="1150" dirty="0">
                <a:solidFill>
                  <a:srgbClr val="6B6878"/>
                </a:solidFill>
                <a:latin typeface="Calibri" pitchFamily="34" charset="0"/>
                <a:ea typeface="Calibri" pitchFamily="34" charset="-122"/>
                <a:cs typeface="Calibri" pitchFamily="34" charset="-120"/>
              </a:rPr>
              <a:t>Viewer edits</a:t>
            </a:r>
            <a:endParaRPr lang="en-US" sz="1150" dirty="0"/>
          </a:p>
        </p:txBody>
      </p:sp>
      <p:sp>
        <p:nvSpPr>
          <p:cNvPr id="12" name="Shape 9"/>
          <p:cNvSpPr/>
          <p:nvPr/>
        </p:nvSpPr>
        <p:spPr>
          <a:xfrm>
            <a:off x="3383280" y="4937760"/>
            <a:ext cx="2651760" cy="960120"/>
          </a:xfrm>
          <a:prstGeom prst="roundRect">
            <a:avLst>
              <a:gd name="adj" fmla="val 8571"/>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3" name="Text 10"/>
          <p:cNvSpPr/>
          <p:nvPr/>
        </p:nvSpPr>
        <p:spPr>
          <a:xfrm>
            <a:off x="3383280" y="5074920"/>
            <a:ext cx="2651760" cy="502920"/>
          </a:xfrm>
          <a:prstGeom prst="rect">
            <a:avLst/>
          </a:prstGeom>
          <a:noFill/>
          <a:ln/>
        </p:spPr>
        <p:txBody>
          <a:bodyPr wrap="square" lIns="0" tIns="0" rIns="0" bIns="0" rtlCol="0" anchor="ctr"/>
          <a:lstStyle/>
          <a:p>
            <a:pPr algn="ctr" indent="0" marL="0">
              <a:buNone/>
            </a:pPr>
            <a:r>
              <a:rPr lang="en-US" sz="2400" b="1" dirty="0">
                <a:solidFill>
                  <a:srgbClr val="5B3DF5"/>
                </a:solidFill>
                <a:latin typeface="Cambria" pitchFamily="34" charset="0"/>
                <a:ea typeface="Cambria" pitchFamily="34" charset="-122"/>
                <a:cs typeface="Cambria" pitchFamily="34" charset="-120"/>
              </a:rPr>
              <a:t>403</a:t>
            </a:r>
            <a:endParaRPr lang="en-US" sz="2400" dirty="0"/>
          </a:p>
        </p:txBody>
      </p:sp>
      <p:sp>
        <p:nvSpPr>
          <p:cNvPr id="14" name="Text 11"/>
          <p:cNvSpPr/>
          <p:nvPr/>
        </p:nvSpPr>
        <p:spPr>
          <a:xfrm>
            <a:off x="3383280" y="5532120"/>
            <a:ext cx="2651760" cy="320040"/>
          </a:xfrm>
          <a:prstGeom prst="rect">
            <a:avLst/>
          </a:prstGeom>
          <a:noFill/>
          <a:ln/>
        </p:spPr>
        <p:txBody>
          <a:bodyPr wrap="square" lIns="0" tIns="0" rIns="0" bIns="0" rtlCol="0" anchor="ctr"/>
          <a:lstStyle/>
          <a:p>
            <a:pPr algn="ctr" indent="0" marL="0">
              <a:buNone/>
            </a:pPr>
            <a:r>
              <a:rPr lang="en-US" sz="1150" dirty="0">
                <a:solidFill>
                  <a:srgbClr val="6B6878"/>
                </a:solidFill>
                <a:latin typeface="Calibri" pitchFamily="34" charset="0"/>
                <a:ea typeface="Calibri" pitchFamily="34" charset="-122"/>
                <a:cs typeface="Calibri" pitchFamily="34" charset="-120"/>
              </a:rPr>
              <a:t>Stranger reads</a:t>
            </a:r>
            <a:endParaRPr lang="en-US" sz="1150" dirty="0"/>
          </a:p>
        </p:txBody>
      </p:sp>
      <p:sp>
        <p:nvSpPr>
          <p:cNvPr id="15" name="Shape 12"/>
          <p:cNvSpPr/>
          <p:nvPr/>
        </p:nvSpPr>
        <p:spPr>
          <a:xfrm>
            <a:off x="6126480" y="4937760"/>
            <a:ext cx="2651760" cy="960120"/>
          </a:xfrm>
          <a:prstGeom prst="roundRect">
            <a:avLst>
              <a:gd name="adj" fmla="val 8571"/>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6" name="Text 13"/>
          <p:cNvSpPr/>
          <p:nvPr/>
        </p:nvSpPr>
        <p:spPr>
          <a:xfrm>
            <a:off x="6126480" y="5074920"/>
            <a:ext cx="2651760" cy="502920"/>
          </a:xfrm>
          <a:prstGeom prst="rect">
            <a:avLst/>
          </a:prstGeom>
          <a:noFill/>
          <a:ln/>
        </p:spPr>
        <p:txBody>
          <a:bodyPr wrap="square" lIns="0" tIns="0" rIns="0" bIns="0" rtlCol="0" anchor="ctr"/>
          <a:lstStyle/>
          <a:p>
            <a:pPr algn="ctr" indent="0" marL="0">
              <a:buNone/>
            </a:pPr>
            <a:r>
              <a:rPr lang="en-US" sz="2400" b="1" dirty="0">
                <a:solidFill>
                  <a:srgbClr val="5B3DF5"/>
                </a:solidFill>
                <a:latin typeface="Cambria" pitchFamily="34" charset="0"/>
                <a:ea typeface="Cambria" pitchFamily="34" charset="-122"/>
                <a:cs typeface="Cambria" pitchFamily="34" charset="-120"/>
              </a:rPr>
              <a:t>401</a:t>
            </a:r>
            <a:endParaRPr lang="en-US" sz="2400" dirty="0"/>
          </a:p>
        </p:txBody>
      </p:sp>
      <p:sp>
        <p:nvSpPr>
          <p:cNvPr id="17" name="Text 14"/>
          <p:cNvSpPr/>
          <p:nvPr/>
        </p:nvSpPr>
        <p:spPr>
          <a:xfrm>
            <a:off x="6126480" y="5532120"/>
            <a:ext cx="2651760" cy="320040"/>
          </a:xfrm>
          <a:prstGeom prst="rect">
            <a:avLst/>
          </a:prstGeom>
          <a:noFill/>
          <a:ln/>
        </p:spPr>
        <p:txBody>
          <a:bodyPr wrap="square" lIns="0" tIns="0" rIns="0" bIns="0" rtlCol="0" anchor="ctr"/>
          <a:lstStyle/>
          <a:p>
            <a:pPr algn="ctr" indent="0" marL="0">
              <a:buNone/>
            </a:pPr>
            <a:r>
              <a:rPr lang="en-US" sz="1150" dirty="0">
                <a:solidFill>
                  <a:srgbClr val="6B6878"/>
                </a:solidFill>
                <a:latin typeface="Calibri" pitchFamily="34" charset="0"/>
                <a:ea typeface="Calibri" pitchFamily="34" charset="-122"/>
                <a:cs typeface="Calibri" pitchFamily="34" charset="-120"/>
              </a:rPr>
              <a:t>Anonymous</a:t>
            </a:r>
            <a:endParaRPr lang="en-US" sz="1150" dirty="0"/>
          </a:p>
        </p:txBody>
      </p:sp>
      <p:sp>
        <p:nvSpPr>
          <p:cNvPr id="18" name="Shape 15"/>
          <p:cNvSpPr/>
          <p:nvPr/>
        </p:nvSpPr>
        <p:spPr>
          <a:xfrm>
            <a:off x="8869680" y="4937760"/>
            <a:ext cx="2651760" cy="960120"/>
          </a:xfrm>
          <a:prstGeom prst="roundRect">
            <a:avLst>
              <a:gd name="adj" fmla="val 8571"/>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9" name="Text 16"/>
          <p:cNvSpPr/>
          <p:nvPr/>
        </p:nvSpPr>
        <p:spPr>
          <a:xfrm>
            <a:off x="8869680" y="5074920"/>
            <a:ext cx="2651760" cy="502920"/>
          </a:xfrm>
          <a:prstGeom prst="rect">
            <a:avLst/>
          </a:prstGeom>
          <a:noFill/>
          <a:ln/>
        </p:spPr>
        <p:txBody>
          <a:bodyPr wrap="square" lIns="0" tIns="0" rIns="0" bIns="0" rtlCol="0" anchor="ctr"/>
          <a:lstStyle/>
          <a:p>
            <a:pPr algn="ctr" indent="0" marL="0">
              <a:buNone/>
            </a:pPr>
            <a:r>
              <a:rPr lang="en-US" sz="2400" b="1" dirty="0">
                <a:solidFill>
                  <a:srgbClr val="5B3DF5"/>
                </a:solidFill>
                <a:latin typeface="Cambria" pitchFamily="34" charset="0"/>
                <a:ea typeface="Cambria" pitchFamily="34" charset="-122"/>
                <a:cs typeface="Cambria" pitchFamily="34" charset="-120"/>
              </a:rPr>
              <a:t>never</a:t>
            </a:r>
            <a:endParaRPr lang="en-US" sz="2400" dirty="0"/>
          </a:p>
        </p:txBody>
      </p:sp>
      <p:sp>
        <p:nvSpPr>
          <p:cNvPr id="20" name="Text 17"/>
          <p:cNvSpPr/>
          <p:nvPr/>
        </p:nvSpPr>
        <p:spPr>
          <a:xfrm>
            <a:off x="8869680" y="5532120"/>
            <a:ext cx="2651760" cy="320040"/>
          </a:xfrm>
          <a:prstGeom prst="rect">
            <a:avLst/>
          </a:prstGeom>
          <a:noFill/>
          <a:ln/>
        </p:spPr>
        <p:txBody>
          <a:bodyPr wrap="square" lIns="0" tIns="0" rIns="0" bIns="0" rtlCol="0" anchor="ctr"/>
          <a:lstStyle/>
          <a:p>
            <a:pPr algn="ctr" indent="0" marL="0">
              <a:buNone/>
            </a:pPr>
            <a:r>
              <a:rPr lang="en-US" sz="1150" dirty="0">
                <a:solidFill>
                  <a:srgbClr val="6B6878"/>
                </a:solidFill>
                <a:latin typeface="Calibri" pitchFamily="34" charset="0"/>
                <a:ea typeface="Calibri" pitchFamily="34" charset="-122"/>
                <a:cs typeface="Calibri" pitchFamily="34" charset="-120"/>
              </a:rPr>
              <a:t>Non-owner sees collaborators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JUDGEMENT UNDER CONSTRAINTS</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What I cut — and what's next</a:t>
            </a:r>
            <a:endParaRPr lang="en-US" sz="3200" dirty="0"/>
          </a:p>
        </p:txBody>
      </p:sp>
      <p:sp>
        <p:nvSpPr>
          <p:cNvPr id="4" name="Shape 2"/>
          <p:cNvSpPr/>
          <p:nvPr/>
        </p:nvSpPr>
        <p:spPr>
          <a:xfrm>
            <a:off x="640080" y="1691640"/>
            <a:ext cx="5349240" cy="4206240"/>
          </a:xfrm>
          <a:prstGeom prst="roundRect">
            <a:avLst>
              <a:gd name="adj" fmla="val 1957"/>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5" name="Text 3"/>
          <p:cNvSpPr/>
          <p:nvPr/>
        </p:nvSpPr>
        <p:spPr>
          <a:xfrm>
            <a:off x="960120" y="1920240"/>
            <a:ext cx="4572000" cy="320040"/>
          </a:xfrm>
          <a:prstGeom prst="rect">
            <a:avLst/>
          </a:prstGeom>
          <a:noFill/>
          <a:ln/>
        </p:spPr>
        <p:txBody>
          <a:bodyPr wrap="square" lIns="0" tIns="0" rIns="0" bIns="0" rtlCol="0" anchor="ctr"/>
          <a:lstStyle/>
          <a:p>
            <a:pPr indent="0" marL="0">
              <a:buNone/>
            </a:pPr>
            <a:r>
              <a:rPr lang="en-US" sz="1300" b="1" spc="200" kern="0" dirty="0">
                <a:solidFill>
                  <a:srgbClr val="D14343"/>
                </a:solidFill>
                <a:latin typeface="Calibri" pitchFamily="34" charset="0"/>
                <a:ea typeface="Calibri" pitchFamily="34" charset="-122"/>
                <a:cs typeface="Calibri" pitchFamily="34" charset="-120"/>
              </a:rPr>
              <a:t>CUT ON PURPOSE</a:t>
            </a:r>
            <a:endParaRPr lang="en-US" sz="1300" dirty="0"/>
          </a:p>
        </p:txBody>
      </p:sp>
      <p:sp>
        <p:nvSpPr>
          <p:cNvPr id="6" name="Text 4"/>
          <p:cNvSpPr/>
          <p:nvPr/>
        </p:nvSpPr>
        <p:spPr>
          <a:xfrm>
            <a:off x="960120" y="2377440"/>
            <a:ext cx="4754880" cy="329184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450" dirty="0">
                <a:solidFill>
                  <a:srgbClr val="201C32"/>
                </a:solidFill>
                <a:latin typeface="Calibri" pitchFamily="34" charset="0"/>
                <a:ea typeface="Calibri" pitchFamily="34" charset="-122"/>
                <a:cs typeface="Calibri" pitchFamily="34" charset="-120"/>
              </a:rPr>
              <a:t>Real-time multiplayer — autosave + last-write-wins instead</a:t>
            </a:r>
            <a:endParaRPr lang="en-US" sz="1450" dirty="0"/>
          </a:p>
          <a:p>
            <a:pPr marL="342900" indent="-342900">
              <a:lnSpc>
                <a:spcPct val="105000"/>
              </a:lnSpc>
              <a:spcAft>
                <a:spcPts val="1100"/>
              </a:spcAft>
              <a:buSzPct val="100000"/>
              <a:buChar char="•"/>
            </a:pPr>
            <a:r>
              <a:rPr lang="en-US" sz="1450" dirty="0">
                <a:solidFill>
                  <a:srgbClr val="201C32"/>
                </a:solidFill>
                <a:latin typeface="Calibri" pitchFamily="34" charset="0"/>
                <a:ea typeface="Calibri" pitchFamily="34" charset="-122"/>
                <a:cs typeface="Calibri" pitchFamily="34" charset="-120"/>
              </a:rPr>
              <a:t>Passwords / OAuth — lightweight email session (allowed by brief)</a:t>
            </a:r>
            <a:endParaRPr lang="en-US" sz="1450" dirty="0"/>
          </a:p>
          <a:p>
            <a:pPr marL="342900" indent="-342900">
              <a:lnSpc>
                <a:spcPct val="105000"/>
              </a:lnSpc>
              <a:spcAft>
                <a:spcPts val="1100"/>
              </a:spcAft>
              <a:buSzPct val="100000"/>
              <a:buChar char="•"/>
            </a:pPr>
            <a:r>
              <a:rPr lang="en-US" sz="1450" dirty="0">
                <a:solidFill>
                  <a:srgbClr val="201C32"/>
                </a:solidFill>
                <a:latin typeface="Calibri" pitchFamily="34" charset="0"/>
                <a:ea typeface="Calibri" pitchFamily="34" charset="-122"/>
                <a:cs typeface="Calibri" pitchFamily="34" charset="-120"/>
              </a:rPr>
              <a:t>Blob storage — imports become documents, no bucket needed</a:t>
            </a:r>
            <a:endParaRPr lang="en-US" sz="1450" dirty="0"/>
          </a:p>
          <a:p>
            <a:pPr marL="342900" indent="-342900">
              <a:lnSpc>
                <a:spcPct val="105000"/>
              </a:lnSpc>
              <a:spcAft>
                <a:spcPts val="1100"/>
              </a:spcAft>
              <a:buSzPct val="100000"/>
              <a:buChar char="•"/>
            </a:pPr>
            <a:r>
              <a:rPr lang="en-US" sz="1450" dirty="0">
                <a:solidFill>
                  <a:srgbClr val="201C32"/>
                </a:solidFill>
                <a:latin typeface="Calibri" pitchFamily="34" charset="0"/>
                <a:ea typeface="Calibri" pitchFamily="34" charset="-122"/>
                <a:cs typeface="Calibri" pitchFamily="34" charset="-120"/>
              </a:rPr>
              <a:t>Comments, version history, granular roles</a:t>
            </a:r>
            <a:endParaRPr lang="en-US" sz="1450" dirty="0"/>
          </a:p>
        </p:txBody>
      </p:sp>
      <p:sp>
        <p:nvSpPr>
          <p:cNvPr id="7" name="Shape 5"/>
          <p:cNvSpPr/>
          <p:nvPr/>
        </p:nvSpPr>
        <p:spPr>
          <a:xfrm>
            <a:off x="6172200" y="1691640"/>
            <a:ext cx="5349240" cy="4206240"/>
          </a:xfrm>
          <a:prstGeom prst="roundRect">
            <a:avLst>
              <a:gd name="adj" fmla="val 1957"/>
            </a:avLst>
          </a:prstGeom>
          <a:solidFill>
            <a:srgbClr val="17152B"/>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8" name="Text 6"/>
          <p:cNvSpPr/>
          <p:nvPr/>
        </p:nvSpPr>
        <p:spPr>
          <a:xfrm>
            <a:off x="6492240" y="1920240"/>
            <a:ext cx="4572000" cy="320040"/>
          </a:xfrm>
          <a:prstGeom prst="rect">
            <a:avLst/>
          </a:prstGeom>
          <a:noFill/>
          <a:ln/>
        </p:spPr>
        <p:txBody>
          <a:bodyPr wrap="square" lIns="0" tIns="0" rIns="0" bIns="0" rtlCol="0" anchor="ctr"/>
          <a:lstStyle/>
          <a:p>
            <a:pPr indent="0" marL="0">
              <a:buNone/>
            </a:pPr>
            <a:r>
              <a:rPr lang="en-US" sz="1300" b="1" spc="200" kern="0" dirty="0">
                <a:solidFill>
                  <a:srgbClr val="B7A6FF"/>
                </a:solidFill>
                <a:latin typeface="Calibri" pitchFamily="34" charset="0"/>
                <a:ea typeface="Calibri" pitchFamily="34" charset="-122"/>
                <a:cs typeface="Calibri" pitchFamily="34" charset="-120"/>
              </a:rPr>
              <a:t>NEXT 2–4 HOURS</a:t>
            </a:r>
            <a:endParaRPr lang="en-US" sz="1300" dirty="0"/>
          </a:p>
        </p:txBody>
      </p:sp>
      <p:sp>
        <p:nvSpPr>
          <p:cNvPr id="9" name="Text 7"/>
          <p:cNvSpPr/>
          <p:nvPr/>
        </p:nvSpPr>
        <p:spPr>
          <a:xfrm>
            <a:off x="6492240" y="2377440"/>
            <a:ext cx="4754880" cy="329184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450" dirty="0">
                <a:solidFill>
                  <a:srgbClr val="E8E5F5"/>
                </a:solidFill>
                <a:latin typeface="Calibri" pitchFamily="34" charset="0"/>
                <a:ea typeface="Calibri" pitchFamily="34" charset="-122"/>
                <a:cs typeface="Calibri" pitchFamily="34" charset="-120"/>
              </a:rPr>
              <a:t>Real-time presence + cursors (Tiptap + Yjs)</a:t>
            </a:r>
            <a:endParaRPr lang="en-US" sz="1450" dirty="0"/>
          </a:p>
          <a:p>
            <a:pPr marL="342900" indent="-342900">
              <a:lnSpc>
                <a:spcPct val="105000"/>
              </a:lnSpc>
              <a:spcAft>
                <a:spcPts val="1100"/>
              </a:spcAft>
              <a:buSzPct val="100000"/>
              <a:buChar char="•"/>
            </a:pPr>
            <a:r>
              <a:rPr lang="en-US" sz="1450" dirty="0">
                <a:solidFill>
                  <a:srgbClr val="E8E5F5"/>
                </a:solidFill>
                <a:latin typeface="Calibri" pitchFamily="34" charset="0"/>
                <a:ea typeface="Calibri" pitchFamily="34" charset="-122"/>
                <a:cs typeface="Calibri" pitchFamily="34" charset="-120"/>
              </a:rPr>
              <a:t>API-level integration tests vs. a throwaway Postgres</a:t>
            </a:r>
            <a:endParaRPr lang="en-US" sz="1450" dirty="0"/>
          </a:p>
          <a:p>
            <a:pPr marL="342900" indent="-342900">
              <a:lnSpc>
                <a:spcPct val="105000"/>
              </a:lnSpc>
              <a:spcAft>
                <a:spcPts val="1100"/>
              </a:spcAft>
              <a:buSzPct val="100000"/>
              <a:buChar char="•"/>
            </a:pPr>
            <a:r>
              <a:rPr lang="en-US" sz="1450" dirty="0">
                <a:solidFill>
                  <a:srgbClr val="E8E5F5"/>
                </a:solidFill>
                <a:latin typeface="Calibri" pitchFamily="34" charset="0"/>
                <a:ea typeface="Calibri" pitchFamily="34" charset="-122"/>
                <a:cs typeface="Calibri" pitchFamily="34" charset="-120"/>
              </a:rPr>
              <a:t>Export to Markdown / PDF + dashboard search</a:t>
            </a:r>
            <a:endParaRPr lang="en-US" sz="1450" dirty="0"/>
          </a:p>
          <a:p>
            <a:pPr marL="342900" indent="-342900">
              <a:lnSpc>
                <a:spcPct val="105000"/>
              </a:lnSpc>
              <a:spcAft>
                <a:spcPts val="1100"/>
              </a:spcAft>
              <a:buSzPct val="100000"/>
              <a:buChar char="•"/>
            </a:pPr>
            <a:r>
              <a:rPr lang="en-US" sz="1450" dirty="0">
                <a:solidFill>
                  <a:srgbClr val="E8E5F5"/>
                </a:solidFill>
                <a:latin typeface="Calibri" pitchFamily="34" charset="0"/>
                <a:ea typeface="Calibri" pitchFamily="34" charset="-122"/>
                <a:cs typeface="Calibri" pitchFamily="34" charset="-120"/>
              </a:rPr>
              <a:t>Optimistic UI + soft-delete (trash / restore)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5B3DF5"/>
                </a:solidFill>
                <a:latin typeface="Calibri" pitchFamily="34" charset="0"/>
                <a:ea typeface="Calibri" pitchFamily="34" charset="-122"/>
                <a:cs typeface="Calibri" pitchFamily="34" charset="-120"/>
              </a:rPr>
              <a:t>AI-NATIVE</a:t>
            </a:r>
            <a:endParaRPr lang="en-US" sz="1200" dirty="0"/>
          </a:p>
        </p:txBody>
      </p:sp>
      <p:sp>
        <p:nvSpPr>
          <p:cNvPr id="3" name="Text 1"/>
          <p:cNvSpPr/>
          <p:nvPr/>
        </p:nvSpPr>
        <p:spPr>
          <a:xfrm>
            <a:off x="640080" y="777240"/>
            <a:ext cx="10972800" cy="731520"/>
          </a:xfrm>
          <a:prstGeom prst="rect">
            <a:avLst/>
          </a:prstGeom>
          <a:noFill/>
          <a:ln/>
        </p:spPr>
        <p:txBody>
          <a:bodyPr wrap="square" lIns="0" tIns="0" rIns="0" bIns="0" rtlCol="0" anchor="ctr"/>
          <a:lstStyle/>
          <a:p>
            <a:pPr indent="0" marL="0">
              <a:buNone/>
            </a:pPr>
            <a:r>
              <a:rPr lang="en-US" sz="3200" b="1" dirty="0">
                <a:solidFill>
                  <a:srgbClr val="201C32"/>
                </a:solidFill>
                <a:latin typeface="Cambria" pitchFamily="34" charset="0"/>
                <a:ea typeface="Cambria" pitchFamily="34" charset="-122"/>
                <a:cs typeface="Cambria" pitchFamily="34" charset="-120"/>
              </a:rPr>
              <a:t>How I used AI — with judgement</a:t>
            </a:r>
            <a:endParaRPr lang="en-US" sz="3200" dirty="0"/>
          </a:p>
        </p:txBody>
      </p:sp>
      <p:sp>
        <p:nvSpPr>
          <p:cNvPr id="4" name="Shape 2"/>
          <p:cNvSpPr/>
          <p:nvPr/>
        </p:nvSpPr>
        <p:spPr>
          <a:xfrm>
            <a:off x="640080" y="1783080"/>
            <a:ext cx="3383280" cy="3657600"/>
          </a:xfrm>
          <a:prstGeom prst="roundRect">
            <a:avLst>
              <a:gd name="adj" fmla="val 2432"/>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932688" y="2075688"/>
            <a:ext cx="384048" cy="384048"/>
          </a:xfrm>
          <a:prstGeom prst="ellipse">
            <a:avLst/>
          </a:prstGeom>
          <a:solidFill>
            <a:srgbClr val="5B3DF5"/>
          </a:solidFill>
          <a:ln/>
        </p:spPr>
      </p:sp>
      <p:sp>
        <p:nvSpPr>
          <p:cNvPr id="6" name="Text 4"/>
          <p:cNvSpPr/>
          <p:nvPr/>
        </p:nvSpPr>
        <p:spPr>
          <a:xfrm>
            <a:off x="932688" y="20756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32688" y="2697480"/>
            <a:ext cx="2834640" cy="822960"/>
          </a:xfrm>
          <a:prstGeom prst="rect">
            <a:avLst/>
          </a:prstGeom>
          <a:noFill/>
          <a:ln/>
        </p:spPr>
        <p:txBody>
          <a:bodyPr wrap="square" lIns="0" tIns="0" rIns="0" bIns="0" rtlCol="0" anchor="ctr"/>
          <a:lstStyle/>
          <a:p>
            <a:pPr indent="0" marL="0">
              <a:buNone/>
            </a:pPr>
            <a:r>
              <a:rPr lang="en-US" sz="1800" b="1" dirty="0">
                <a:solidFill>
                  <a:srgbClr val="201C32"/>
                </a:solidFill>
                <a:latin typeface="Cambria" pitchFamily="34" charset="0"/>
                <a:ea typeface="Cambria" pitchFamily="34" charset="-122"/>
                <a:cs typeface="Cambria" pitchFamily="34" charset="-120"/>
              </a:rPr>
              <a:t>Where it sped me up</a:t>
            </a:r>
            <a:endParaRPr lang="en-US" sz="1800" dirty="0"/>
          </a:p>
        </p:txBody>
      </p:sp>
      <p:sp>
        <p:nvSpPr>
          <p:cNvPr id="8" name="Text 6"/>
          <p:cNvSpPr/>
          <p:nvPr/>
        </p:nvSpPr>
        <p:spPr>
          <a:xfrm>
            <a:off x="932688" y="3474720"/>
            <a:ext cx="2834640" cy="1828800"/>
          </a:xfrm>
          <a:prstGeom prst="rect">
            <a:avLst/>
          </a:prstGeom>
          <a:noFill/>
          <a:ln/>
        </p:spPr>
        <p:txBody>
          <a:bodyPr wrap="square" lIns="0" tIns="0" rIns="0" bIns="0" rtlCol="0" anchor="ctr"/>
          <a:lstStyle/>
          <a:p>
            <a:pPr indent="0" marL="0">
              <a:lnSpc>
                <a:spcPct val="115000"/>
              </a:lnSpc>
              <a:buNone/>
            </a:pPr>
            <a:r>
              <a:rPr lang="en-US" sz="1350" dirty="0">
                <a:solidFill>
                  <a:srgbClr val="6B6878"/>
                </a:solidFill>
                <a:latin typeface="Calibri" pitchFamily="34" charset="0"/>
                <a:ea typeface="Calibri" pitchFamily="34" charset="-122"/>
                <a:cs typeface="Calibri" pitchFamily="34" charset="-120"/>
              </a:rPr>
              <a:t>Scaffolding, REST handlers with consistent validation, and a pure tested access layer — and it drove a real browser to verify each role's behavior.</a:t>
            </a:r>
            <a:endParaRPr lang="en-US" sz="1350" dirty="0"/>
          </a:p>
        </p:txBody>
      </p:sp>
      <p:sp>
        <p:nvSpPr>
          <p:cNvPr id="9" name="Shape 7"/>
          <p:cNvSpPr/>
          <p:nvPr/>
        </p:nvSpPr>
        <p:spPr>
          <a:xfrm>
            <a:off x="4434840" y="1783080"/>
            <a:ext cx="3383280" cy="3657600"/>
          </a:xfrm>
          <a:prstGeom prst="roundRect">
            <a:avLst>
              <a:gd name="adj" fmla="val 2432"/>
            </a:avLst>
          </a:prstGeom>
          <a:solidFill>
            <a:srgbClr val="F4F1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0" name="Shape 8"/>
          <p:cNvSpPr/>
          <p:nvPr/>
        </p:nvSpPr>
        <p:spPr>
          <a:xfrm>
            <a:off x="4727448" y="2075688"/>
            <a:ext cx="384048" cy="384048"/>
          </a:xfrm>
          <a:prstGeom prst="ellipse">
            <a:avLst/>
          </a:prstGeom>
          <a:solidFill>
            <a:srgbClr val="5B3DF5"/>
          </a:solidFill>
          <a:ln/>
        </p:spPr>
      </p:sp>
      <p:sp>
        <p:nvSpPr>
          <p:cNvPr id="11" name="Text 9"/>
          <p:cNvSpPr/>
          <p:nvPr/>
        </p:nvSpPr>
        <p:spPr>
          <a:xfrm>
            <a:off x="4727448" y="20756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727448" y="2697480"/>
            <a:ext cx="2834640" cy="822960"/>
          </a:xfrm>
          <a:prstGeom prst="rect">
            <a:avLst/>
          </a:prstGeom>
          <a:noFill/>
          <a:ln/>
        </p:spPr>
        <p:txBody>
          <a:bodyPr wrap="square" lIns="0" tIns="0" rIns="0" bIns="0" rtlCol="0" anchor="ctr"/>
          <a:lstStyle/>
          <a:p>
            <a:pPr indent="0" marL="0">
              <a:buNone/>
            </a:pPr>
            <a:r>
              <a:rPr lang="en-US" sz="1800" b="1" dirty="0">
                <a:solidFill>
                  <a:srgbClr val="201C32"/>
                </a:solidFill>
                <a:latin typeface="Cambria" pitchFamily="34" charset="0"/>
                <a:ea typeface="Cambria" pitchFamily="34" charset="-122"/>
                <a:cs typeface="Cambria" pitchFamily="34" charset="-120"/>
              </a:rPr>
              <a:t>What I overrode</a:t>
            </a:r>
            <a:endParaRPr lang="en-US" sz="1800" dirty="0"/>
          </a:p>
        </p:txBody>
      </p:sp>
      <p:sp>
        <p:nvSpPr>
          <p:cNvPr id="13" name="Text 11"/>
          <p:cNvSpPr/>
          <p:nvPr/>
        </p:nvSpPr>
        <p:spPr>
          <a:xfrm>
            <a:off x="4727448" y="3474720"/>
            <a:ext cx="2834640" cy="1828800"/>
          </a:xfrm>
          <a:prstGeom prst="rect">
            <a:avLst/>
          </a:prstGeom>
          <a:noFill/>
          <a:ln/>
        </p:spPr>
        <p:txBody>
          <a:bodyPr wrap="square" lIns="0" tIns="0" rIns="0" bIns="0" rtlCol="0" anchor="ctr"/>
          <a:lstStyle/>
          <a:p>
            <a:pPr indent="0" marL="0">
              <a:lnSpc>
                <a:spcPct val="115000"/>
              </a:lnSpc>
              <a:buNone/>
            </a:pPr>
            <a:r>
              <a:rPr lang="en-US" sz="1350" dirty="0">
                <a:solidFill>
                  <a:srgbClr val="6B6878"/>
                </a:solidFill>
                <a:latin typeface="Calibri" pitchFamily="34" charset="0"/>
                <a:ea typeface="Calibri" pitchFamily="34" charset="-122"/>
                <a:cs typeface="Calibri" pitchFamily="34" charset="-120"/>
              </a:rPr>
              <a:t>Pinned Prisma 6 (7 needed driver-adapter config) and switched shadcn to the Radix base when the default generated an incompatible component API.</a:t>
            </a:r>
            <a:endParaRPr lang="en-US" sz="1350" dirty="0"/>
          </a:p>
        </p:txBody>
      </p:sp>
      <p:sp>
        <p:nvSpPr>
          <p:cNvPr id="14" name="Shape 12"/>
          <p:cNvSpPr/>
          <p:nvPr/>
        </p:nvSpPr>
        <p:spPr>
          <a:xfrm>
            <a:off x="8229600" y="1783080"/>
            <a:ext cx="3383280" cy="3657600"/>
          </a:xfrm>
          <a:prstGeom prst="roundRect">
            <a:avLst>
              <a:gd name="adj" fmla="val 2432"/>
            </a:avLst>
          </a:prstGeom>
          <a:solidFill>
            <a:srgbClr val="FFFFFF"/>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15" name="Shape 13"/>
          <p:cNvSpPr/>
          <p:nvPr/>
        </p:nvSpPr>
        <p:spPr>
          <a:xfrm>
            <a:off x="8522208" y="2075688"/>
            <a:ext cx="384048" cy="384048"/>
          </a:xfrm>
          <a:prstGeom prst="ellipse">
            <a:avLst/>
          </a:prstGeom>
          <a:solidFill>
            <a:srgbClr val="5B3DF5"/>
          </a:solidFill>
          <a:ln/>
        </p:spPr>
      </p:sp>
      <p:sp>
        <p:nvSpPr>
          <p:cNvPr id="16" name="Text 14"/>
          <p:cNvSpPr/>
          <p:nvPr/>
        </p:nvSpPr>
        <p:spPr>
          <a:xfrm>
            <a:off x="8522208" y="20756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522208" y="2697480"/>
            <a:ext cx="2834640" cy="822960"/>
          </a:xfrm>
          <a:prstGeom prst="rect">
            <a:avLst/>
          </a:prstGeom>
          <a:noFill/>
          <a:ln/>
        </p:spPr>
        <p:txBody>
          <a:bodyPr wrap="square" lIns="0" tIns="0" rIns="0" bIns="0" rtlCol="0" anchor="ctr"/>
          <a:lstStyle/>
          <a:p>
            <a:pPr indent="0" marL="0">
              <a:buNone/>
            </a:pPr>
            <a:r>
              <a:rPr lang="en-US" sz="1800" b="1" dirty="0">
                <a:solidFill>
                  <a:srgbClr val="201C32"/>
                </a:solidFill>
                <a:latin typeface="Cambria" pitchFamily="34" charset="0"/>
                <a:ea typeface="Cambria" pitchFamily="34" charset="-122"/>
                <a:cs typeface="Cambria" pitchFamily="34" charset="-120"/>
              </a:rPr>
              <a:t>How I verified</a:t>
            </a:r>
            <a:endParaRPr lang="en-US" sz="1800" dirty="0"/>
          </a:p>
        </p:txBody>
      </p:sp>
      <p:sp>
        <p:nvSpPr>
          <p:cNvPr id="18" name="Text 16"/>
          <p:cNvSpPr/>
          <p:nvPr/>
        </p:nvSpPr>
        <p:spPr>
          <a:xfrm>
            <a:off x="8522208" y="3474720"/>
            <a:ext cx="2834640" cy="1828800"/>
          </a:xfrm>
          <a:prstGeom prst="rect">
            <a:avLst/>
          </a:prstGeom>
          <a:noFill/>
          <a:ln/>
        </p:spPr>
        <p:txBody>
          <a:bodyPr wrap="square" lIns="0" tIns="0" rIns="0" bIns="0" rtlCol="0" anchor="ctr"/>
          <a:lstStyle/>
          <a:p>
            <a:pPr indent="0" marL="0">
              <a:lnSpc>
                <a:spcPct val="115000"/>
              </a:lnSpc>
              <a:buNone/>
            </a:pPr>
            <a:r>
              <a:rPr lang="en-US" sz="1350" dirty="0">
                <a:solidFill>
                  <a:srgbClr val="6B6878"/>
                </a:solidFill>
                <a:latin typeface="Calibri" pitchFamily="34" charset="0"/>
                <a:ea typeface="Calibri" pitchFamily="34" charset="-122"/>
                <a:cs typeface="Calibri" pitchFamily="34" charset="-120"/>
              </a:rPr>
              <a:t>18 Vitest tests, clean build, and live API checks of 403/401 — plus a real bug AI caught: load fired a spurious autosave, fixed with emitUpdate:false.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52B"/>
        </a:solidFill>
      </p:bgPr>
    </p:bg>
    <p:spTree>
      <p:nvGrpSpPr>
        <p:cNvPr id="1" name=""/>
        <p:cNvGrpSpPr/>
        <p:nvPr/>
      </p:nvGrpSpPr>
      <p:grpSpPr>
        <a:xfrm>
          <a:off x="0" y="0"/>
          <a:ext cx="0" cy="0"/>
          <a:chOff x="0" y="0"/>
          <a:chExt cx="0" cy="0"/>
        </a:xfrm>
      </p:grpSpPr>
      <p:sp>
        <p:nvSpPr>
          <p:cNvPr id="2" name="Shape 0"/>
          <p:cNvSpPr/>
          <p:nvPr/>
        </p:nvSpPr>
        <p:spPr>
          <a:xfrm>
            <a:off x="-1554480" y="3657600"/>
            <a:ext cx="5029200" cy="5029200"/>
          </a:xfrm>
          <a:prstGeom prst="ellipse">
            <a:avLst/>
          </a:prstGeom>
          <a:solidFill>
            <a:srgbClr val="5B3DF5">
              <a:alpha val="20000"/>
            </a:srgbClr>
          </a:solidFill>
          <a:ln/>
        </p:spPr>
      </p:sp>
      <p:sp>
        <p:nvSpPr>
          <p:cNvPr id="3" name="Shape 1"/>
          <p:cNvSpPr/>
          <p:nvPr/>
        </p:nvSpPr>
        <p:spPr>
          <a:xfrm>
            <a:off x="9875520" y="-1645920"/>
            <a:ext cx="4572000" cy="4572000"/>
          </a:xfrm>
          <a:prstGeom prst="ellipse">
            <a:avLst/>
          </a:prstGeom>
          <a:solidFill>
            <a:srgbClr val="4A2FD0">
              <a:alpha val="18000"/>
            </a:srgbClr>
          </a:solidFill>
          <a:ln/>
        </p:spPr>
      </p:sp>
      <p:sp>
        <p:nvSpPr>
          <p:cNvPr id="4" name="Text 2"/>
          <p:cNvSpPr/>
          <p:nvPr/>
        </p:nvSpPr>
        <p:spPr>
          <a:xfrm>
            <a:off x="822960" y="1554480"/>
            <a:ext cx="100584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822960" y="2606040"/>
            <a:ext cx="10241280" cy="457200"/>
          </a:xfrm>
          <a:prstGeom prst="rect">
            <a:avLst/>
          </a:prstGeom>
          <a:noFill/>
          <a:ln/>
        </p:spPr>
        <p:txBody>
          <a:bodyPr wrap="square" lIns="0" tIns="0" rIns="0" bIns="0" rtlCol="0" anchor="ctr"/>
          <a:lstStyle/>
          <a:p>
            <a:pPr indent="0" marL="0">
              <a:buNone/>
            </a:pPr>
            <a:r>
              <a:rPr lang="en-US" sz="1800" dirty="0">
                <a:solidFill>
                  <a:srgbClr val="B7A6FF"/>
                </a:solidFill>
                <a:latin typeface="Calibri" pitchFamily="34" charset="0"/>
                <a:ea typeface="Calibri" pitchFamily="34" charset="-122"/>
                <a:cs typeface="Calibri" pitchFamily="34" charset="-120"/>
              </a:rPr>
              <a:t>A focused, working product slice — built, tested, deployed, and honest about its edges.</a:t>
            </a:r>
            <a:endParaRPr lang="en-US" sz="1800" dirty="0"/>
          </a:p>
        </p:txBody>
      </p:sp>
      <p:sp>
        <p:nvSpPr>
          <p:cNvPr id="6" name="Shape 4"/>
          <p:cNvSpPr/>
          <p:nvPr/>
        </p:nvSpPr>
        <p:spPr>
          <a:xfrm>
            <a:off x="822960" y="3566160"/>
            <a:ext cx="10515600" cy="2103120"/>
          </a:xfrm>
          <a:prstGeom prst="roundRect">
            <a:avLst>
              <a:gd name="adj" fmla="val 3913"/>
            </a:avLst>
          </a:prstGeom>
          <a:solidFill>
            <a:srgbClr val="211C3A"/>
          </a:solidFill>
          <a:ln w="12700">
            <a:solidFill>
              <a:srgbClr val="E6E3F0"/>
            </a:solidFill>
            <a:prstDash val="solid"/>
          </a:ln>
          <a:effectLst>
            <a:outerShdw sx="100000" sy="100000" kx="0" ky="0" algn="bl" rotWithShape="0" blurRad="114300" dist="38100" dir="5400000">
              <a:srgbClr val="000000">
                <a:alpha val="10000"/>
              </a:srgbClr>
            </a:outerShdw>
          </a:effectLst>
        </p:spPr>
      </p:sp>
      <p:sp>
        <p:nvSpPr>
          <p:cNvPr id="7" name="Text 5"/>
          <p:cNvSpPr/>
          <p:nvPr/>
        </p:nvSpPr>
        <p:spPr>
          <a:xfrm>
            <a:off x="1188720" y="3840480"/>
            <a:ext cx="9875520" cy="411480"/>
          </a:xfrm>
          <a:prstGeom prst="rect">
            <a:avLst/>
          </a:prstGeom>
          <a:noFill/>
          <a:ln/>
        </p:spPr>
        <p:txBody>
          <a:bodyPr wrap="square" lIns="0" tIns="0" rIns="0" bIns="0" rtlCol="0" anchor="ctr"/>
          <a:lstStyle/>
          <a:p>
            <a:pPr indent="0" marL="0">
              <a:buNone/>
            </a:pPr>
            <a:r>
              <a:rPr lang="en-US" sz="1600" b="1" dirty="0">
                <a:solidFill>
                  <a:srgbClr val="B7A6FF"/>
                </a:solidFill>
                <a:latin typeface="Calibri" pitchFamily="34" charset="0"/>
                <a:ea typeface="Calibri" pitchFamily="34" charset="-122"/>
                <a:cs typeface="Calibri" pitchFamily="34" charset="-120"/>
              </a:rPr>
              <a:t>Repo   </a:t>
            </a:r>
            <a:pPr indent="0" marL="0">
              <a:buNone/>
            </a:pPr>
            <a:r>
              <a:rPr lang="en-US" sz="1600" dirty="0">
                <a:solidFill>
                  <a:srgbClr val="FFFFFF"/>
                </a:solidFill>
                <a:latin typeface="Calibri" pitchFamily="34" charset="0"/>
                <a:ea typeface="Calibri" pitchFamily="34" charset="-122"/>
                <a:cs typeface="Calibri" pitchFamily="34" charset="-120"/>
              </a:rPr>
              <a:t>github.com/Elciiid/AJAIA</a:t>
            </a:r>
            <a:endParaRPr lang="en-US" sz="1600" dirty="0"/>
          </a:p>
        </p:txBody>
      </p:sp>
      <p:sp>
        <p:nvSpPr>
          <p:cNvPr id="8" name="Text 6"/>
          <p:cNvSpPr/>
          <p:nvPr/>
        </p:nvSpPr>
        <p:spPr>
          <a:xfrm>
            <a:off x="1188720" y="4343400"/>
            <a:ext cx="9875520" cy="411480"/>
          </a:xfrm>
          <a:prstGeom prst="rect">
            <a:avLst/>
          </a:prstGeom>
          <a:noFill/>
          <a:ln/>
        </p:spPr>
        <p:txBody>
          <a:bodyPr wrap="square" lIns="0" tIns="0" rIns="0" bIns="0" rtlCol="0" anchor="ctr"/>
          <a:lstStyle/>
          <a:p>
            <a:pPr indent="0" marL="0">
              <a:buNone/>
            </a:pPr>
            <a:r>
              <a:rPr lang="en-US" sz="1600" b="1" dirty="0">
                <a:solidFill>
                  <a:srgbClr val="B7A6FF"/>
                </a:solidFill>
                <a:latin typeface="Calibri" pitchFamily="34" charset="0"/>
                <a:ea typeface="Calibri" pitchFamily="34" charset="-122"/>
                <a:cs typeface="Calibri" pitchFamily="34" charset="-120"/>
              </a:rPr>
              <a:t>Live    </a:t>
            </a:r>
            <a:pPr indent="0" marL="0">
              <a:buNone/>
            </a:pPr>
            <a:r>
              <a:rPr lang="en-US" sz="1600" dirty="0">
                <a:solidFill>
                  <a:srgbClr val="FFFFFF"/>
                </a:solidFill>
                <a:latin typeface="Calibri" pitchFamily="34" charset="0"/>
                <a:ea typeface="Calibri" pitchFamily="34" charset="-122"/>
                <a:cs typeface="Calibri" pitchFamily="34" charset="-120"/>
              </a:rPr>
              <a:t>ajaia-three.vercel.app</a:t>
            </a:r>
            <a:endParaRPr lang="en-US" sz="1600" dirty="0"/>
          </a:p>
        </p:txBody>
      </p:sp>
      <p:sp>
        <p:nvSpPr>
          <p:cNvPr id="9" name="Text 7"/>
          <p:cNvSpPr/>
          <p:nvPr/>
        </p:nvSpPr>
        <p:spPr>
          <a:xfrm>
            <a:off x="1188720" y="4846320"/>
            <a:ext cx="10058400" cy="411480"/>
          </a:xfrm>
          <a:prstGeom prst="rect">
            <a:avLst/>
          </a:prstGeom>
          <a:noFill/>
          <a:ln/>
        </p:spPr>
        <p:txBody>
          <a:bodyPr wrap="square" lIns="0" tIns="0" rIns="0" bIns="0" rtlCol="0" anchor="ctr"/>
          <a:lstStyle/>
          <a:p>
            <a:pPr indent="0" marL="0">
              <a:buNone/>
            </a:pPr>
            <a:r>
              <a:rPr lang="en-US" sz="1500" b="1" dirty="0">
                <a:solidFill>
                  <a:srgbClr val="B7A6FF"/>
                </a:solidFill>
                <a:latin typeface="Calibri" pitchFamily="34" charset="0"/>
                <a:ea typeface="Calibri" pitchFamily="34" charset="-122"/>
                <a:cs typeface="Calibri" pitchFamily="34" charset="-120"/>
              </a:rPr>
              <a:t>Demo  </a:t>
            </a:r>
            <a:pPr indent="0" marL="0">
              <a:buNone/>
            </a:pPr>
            <a:r>
              <a:rPr lang="en-US" sz="1500" dirty="0">
                <a:solidFill>
                  <a:srgbClr val="FFFFFF"/>
                </a:solidFill>
                <a:latin typeface="Calibri" pitchFamily="34" charset="0"/>
                <a:ea typeface="Calibri" pitchFamily="34" charset="-122"/>
                <a:cs typeface="Calibri" pitchFamily="34" charset="-120"/>
              </a:rPr>
              <a:t>alice@ajaia.test · ben@ajaia.test · carol@ajaia.test  (no password)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Ajaia Docs — Walkthrough</dc:title>
  <dc:subject>PptxGenJS Presentation</dc:subject>
  <dc:creator>Jonas Elcid</dc:creator>
  <cp:lastModifiedBy>Jonas Elcid</cp:lastModifiedBy>
  <cp:revision>1</cp:revision>
  <dcterms:created xsi:type="dcterms:W3CDTF">2026-06-28T18:57:40Z</dcterms:created>
  <dcterms:modified xsi:type="dcterms:W3CDTF">2026-06-28T18:57:40Z</dcterms:modified>
</cp:coreProperties>
</file>